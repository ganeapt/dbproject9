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7" r:id="rId4"/>
    <p:sldId id="258" r:id="rId5"/>
    <p:sldId id="259" r:id="rId6"/>
    <p:sldId id="260" r:id="rId7"/>
    <p:sldId id="261" r:id="rId8"/>
    <p:sldId id="262" r:id="rId9"/>
    <p:sldId id="263" r:id="rId10"/>
    <p:sldId id="264" r:id="rId11"/>
    <p:sldId id="265"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4492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w="12700">
            <a:solidFill>
              <a:srgbClr val="C9A84C"/>
            </a:solidFill>
            <a:prstDash val="solid"/>
          </a:ln>
        </p:spPr>
        <p:txBody>
          <a:bodyPr/>
          <a:lstStyle/>
          <a:p>
            <a:endParaRPr lang="ro-RO"/>
          </a:p>
        </p:txBody>
      </p:sp>
      <p:sp>
        <p:nvSpPr>
          <p:cNvPr id="3" name="Text 1"/>
          <p:cNvSpPr/>
          <p:nvPr/>
        </p:nvSpPr>
        <p:spPr>
          <a:xfrm>
            <a:off x="411480" y="640080"/>
            <a:ext cx="8321040" cy="118872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Sistem Bancar Simplificat</a:t>
            </a:r>
            <a:endParaRPr lang="en-US" sz="4000" dirty="0"/>
          </a:p>
        </p:txBody>
      </p:sp>
      <p:sp>
        <p:nvSpPr>
          <p:cNvPr id="4" name="Text 2"/>
          <p:cNvSpPr/>
          <p:nvPr/>
        </p:nvSpPr>
        <p:spPr>
          <a:xfrm>
            <a:off x="411480" y="1714500"/>
            <a:ext cx="6400800" cy="457200"/>
          </a:xfrm>
          <a:prstGeom prst="rect">
            <a:avLst/>
          </a:prstGeom>
          <a:noFill/>
          <a:ln/>
        </p:spPr>
        <p:txBody>
          <a:bodyPr wrap="square" lIns="0" tIns="0" rIns="0" bIns="0" rtlCol="0" anchor="ctr"/>
          <a:lstStyle/>
          <a:p>
            <a:pPr marL="0" indent="0" algn="l">
              <a:buNone/>
            </a:pPr>
            <a:endParaRPr lang="en-US" sz="1600">
              <a:solidFill>
                <a:srgbClr val="E5C97A"/>
              </a:solidFill>
              <a:latin typeface="Calibri" pitchFamily="34" charset="0"/>
              <a:ea typeface="Calibri" pitchFamily="34" charset="-122"/>
              <a:cs typeface="Calibri" pitchFamily="34" charset="-120"/>
            </a:endParaRPr>
          </a:p>
          <a:p>
            <a:pPr marL="0" indent="0" algn="l">
              <a:buNone/>
            </a:pPr>
            <a:endParaRPr lang="en-US" sz="1600">
              <a:solidFill>
                <a:srgbClr val="E5C97A"/>
              </a:solidFill>
              <a:latin typeface="Calibri" pitchFamily="34" charset="0"/>
              <a:ea typeface="Calibri" pitchFamily="34" charset="-122"/>
              <a:cs typeface="Calibri" pitchFamily="34" charset="-120"/>
            </a:endParaRPr>
          </a:p>
          <a:p>
            <a:pPr marL="0" indent="0" algn="l">
              <a:buNone/>
            </a:pPr>
            <a:r>
              <a:rPr lang="en-US" sz="1600">
                <a:solidFill>
                  <a:srgbClr val="E5C97A"/>
                </a:solidFill>
                <a:latin typeface="Calibri" pitchFamily="34" charset="0"/>
                <a:ea typeface="Calibri" pitchFamily="34" charset="-122"/>
                <a:cs typeface="Calibri" pitchFamily="34" charset="-120"/>
              </a:rPr>
              <a:t>Autor: Ganea Alexandru-Gabriel</a:t>
            </a:r>
          </a:p>
          <a:p>
            <a:pPr marL="0" indent="0" algn="l">
              <a:buNone/>
            </a:pPr>
            <a:r>
              <a:rPr lang="en-US" sz="1600">
                <a:solidFill>
                  <a:srgbClr val="E5C97A"/>
                </a:solidFill>
                <a:latin typeface="Calibri" pitchFamily="34" charset="0"/>
                <a:ea typeface="Calibri" pitchFamily="34" charset="-122"/>
                <a:cs typeface="Calibri" pitchFamily="34" charset="-120"/>
              </a:rPr>
              <a:t>Specializare: CAL 2</a:t>
            </a:r>
          </a:p>
          <a:p>
            <a:pPr marL="0" indent="0" algn="l">
              <a:buNone/>
            </a:pPr>
            <a:r>
              <a:rPr lang="en-US" sz="1600">
                <a:solidFill>
                  <a:srgbClr val="E5C97A"/>
                </a:solidFill>
                <a:latin typeface="Calibri" pitchFamily="34" charset="0"/>
                <a:ea typeface="Calibri" pitchFamily="34" charset="-122"/>
                <a:cs typeface="Calibri" pitchFamily="34" charset="-120"/>
              </a:rPr>
              <a:t>Prof.: Sabo Cosmin</a:t>
            </a:r>
            <a:endParaRPr lang="en-US" sz="1600" dirty="0"/>
          </a:p>
        </p:txBody>
      </p:sp>
      <p:sp>
        <p:nvSpPr>
          <p:cNvPr id="5" name="Shape 3"/>
          <p:cNvSpPr/>
          <p:nvPr/>
        </p:nvSpPr>
        <p:spPr>
          <a:xfrm>
            <a:off x="411480" y="2903220"/>
            <a:ext cx="6858000" cy="1188720"/>
          </a:xfrm>
          <a:prstGeom prst="rect">
            <a:avLst/>
          </a:prstGeom>
          <a:solidFill>
            <a:srgbClr val="112240"/>
          </a:solidFill>
          <a:ln w="12700">
            <a:solidFill>
              <a:srgbClr val="112240"/>
            </a:solidFill>
            <a:prstDash val="solid"/>
          </a:ln>
        </p:spPr>
        <p:txBody>
          <a:bodyPr/>
          <a:lstStyle/>
          <a:p>
            <a:endParaRPr lang="ro-RO"/>
          </a:p>
        </p:txBody>
      </p:sp>
      <p:sp>
        <p:nvSpPr>
          <p:cNvPr id="6" name="Text 4"/>
          <p:cNvSpPr/>
          <p:nvPr/>
        </p:nvSpPr>
        <p:spPr>
          <a:xfrm>
            <a:off x="532483" y="2994660"/>
            <a:ext cx="6492240" cy="1188720"/>
          </a:xfrm>
          <a:prstGeom prst="rect">
            <a:avLst/>
          </a:prstGeom>
          <a:noFill/>
          <a:ln/>
        </p:spPr>
        <p:txBody>
          <a:bodyPr wrap="square" lIns="0" tIns="0" rIns="0" bIns="0" rtlCol="0" anchor="t"/>
          <a:lstStyle/>
          <a:p>
            <a:r>
              <a:rPr lang="en-US" sz="1400" dirty="0">
                <a:solidFill>
                  <a:schemeClr val="bg1"/>
                </a:solidFill>
                <a:latin typeface="Calibri" pitchFamily="34" charset="0"/>
                <a:ea typeface="Calibri" pitchFamily="34" charset="-122"/>
                <a:cs typeface="Calibri" pitchFamily="34" charset="-120"/>
              </a:rPr>
              <a:t>Implementarea unui sistem bancar </a:t>
            </a:r>
            <a:r>
              <a:rPr lang="en-US" sz="1400">
                <a:solidFill>
                  <a:schemeClr val="bg1"/>
                </a:solidFill>
                <a:latin typeface="Calibri" pitchFamily="34" charset="0"/>
                <a:ea typeface="Calibri" pitchFamily="34" charset="-122"/>
                <a:cs typeface="Calibri" pitchFamily="34" charset="-120"/>
              </a:rPr>
              <a:t>digital </a:t>
            </a:r>
            <a:r>
              <a:rPr lang="ro-RO" sz="1400">
                <a:solidFill>
                  <a:schemeClr val="bg1"/>
                </a:solidFill>
                <a:latin typeface="Calibri" pitchFamily="34" charset="0"/>
                <a:ea typeface="Calibri" pitchFamily="34" charset="-122"/>
                <a:cs typeface="Calibri" pitchFamily="34" charset="-120"/>
              </a:rPr>
              <a:t>in gen Revolut, ING, BT</a:t>
            </a:r>
            <a:r>
              <a:rPr lang="en-US" sz="1400">
                <a:solidFill>
                  <a:schemeClr val="bg1"/>
                </a:solidFill>
                <a:latin typeface="Calibri" pitchFamily="34" charset="0"/>
                <a:ea typeface="Calibri" pitchFamily="34" charset="-122"/>
                <a:cs typeface="Calibri" pitchFamily="34" charset="-120"/>
              </a:rPr>
              <a:t> </a:t>
            </a:r>
            <a:r>
              <a:rPr lang="ro-RO" sz="1400">
                <a:solidFill>
                  <a:schemeClr val="bg1"/>
                </a:solidFill>
                <a:latin typeface="Calibri" pitchFamily="34" charset="0"/>
                <a:ea typeface="Calibri" pitchFamily="34" charset="-122"/>
                <a:cs typeface="Calibri" pitchFamily="34" charset="-120"/>
              </a:rPr>
              <a:t>care acoperă </a:t>
            </a:r>
            <a:r>
              <a:rPr lang="ro-RO" sz="1400">
                <a:solidFill>
                  <a:schemeClr val="bg1"/>
                </a:solidFill>
              </a:rPr>
              <a:t>gestiunea conturilor, tranzacțiilor, transferurilor și generației de extrase de cont, </a:t>
            </a:r>
            <a:r>
              <a:rPr lang="en-US" sz="1400">
                <a:solidFill>
                  <a:schemeClr val="bg1"/>
                </a:solidFill>
                <a:latin typeface="Calibri" pitchFamily="34" charset="0"/>
                <a:ea typeface="Calibri" pitchFamily="34" charset="-122"/>
                <a:cs typeface="Calibri" pitchFamily="34" charset="-120"/>
              </a:rPr>
              <a:t>utilizând concepte de </a:t>
            </a:r>
            <a:r>
              <a:rPr lang="en-US" sz="1400" dirty="0">
                <a:solidFill>
                  <a:schemeClr val="bg1"/>
                </a:solidFill>
                <a:latin typeface="Calibri" pitchFamily="34" charset="0"/>
                <a:ea typeface="Calibri" pitchFamily="34" charset="-122"/>
                <a:cs typeface="Calibri" pitchFamily="34" charset="-120"/>
              </a:rPr>
              <a:t>baze de </a:t>
            </a:r>
            <a:r>
              <a:rPr lang="en-US" sz="1400">
                <a:solidFill>
                  <a:schemeClr val="bg1"/>
                </a:solidFill>
                <a:latin typeface="Calibri" pitchFamily="34" charset="0"/>
                <a:ea typeface="Calibri" pitchFamily="34" charset="-122"/>
                <a:cs typeface="Calibri" pitchFamily="34" charset="-120"/>
              </a:rPr>
              <a:t>date relaționale aplicate in limbajul Python.</a:t>
            </a:r>
            <a:endParaRPr lang="en-US" sz="1400" dirty="0">
              <a:solidFill>
                <a:schemeClr val="bg1"/>
              </a:solidFill>
            </a:endParaRPr>
          </a:p>
        </p:txBody>
      </p:sp>
      <p:sp>
        <p:nvSpPr>
          <p:cNvPr id="15" name="Text 13"/>
          <p:cNvSpPr/>
          <p:nvPr/>
        </p:nvSpPr>
        <p:spPr>
          <a:xfrm>
            <a:off x="411480" y="4663440"/>
            <a:ext cx="3657600" cy="320040"/>
          </a:xfrm>
          <a:prstGeom prst="rect">
            <a:avLst/>
          </a:prstGeom>
          <a:noFill/>
          <a:ln/>
        </p:spPr>
        <p:txBody>
          <a:bodyPr wrap="square" lIns="0" tIns="0" rIns="0" bIns="0" rtlCol="0" anchor="ctr"/>
          <a:lstStyle/>
          <a:p>
            <a:pPr marL="0" indent="0" algn="l">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ro-RO"/>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Obiective &amp; Context</a:t>
            </a:r>
            <a:endParaRPr lang="en-US" sz="2600" dirty="0"/>
          </a:p>
        </p:txBody>
      </p:sp>
      <p:sp>
        <p:nvSpPr>
          <p:cNvPr id="4" name="Text 2"/>
          <p:cNvSpPr/>
          <p:nvPr/>
        </p:nvSpPr>
        <p:spPr>
          <a:xfrm>
            <a:off x="320040" y="960120"/>
            <a:ext cx="3840480" cy="411480"/>
          </a:xfrm>
          <a:prstGeom prst="rect">
            <a:avLst/>
          </a:prstGeom>
          <a:noFill/>
          <a:ln/>
        </p:spPr>
        <p:txBody>
          <a:bodyPr wrap="square" lIns="0" tIns="0" rIns="0" bIns="0" rtlCol="0" anchor="ctr"/>
          <a:lstStyle/>
          <a:p>
            <a:pPr marL="0" indent="0">
              <a:buNone/>
            </a:pPr>
            <a:r>
              <a:rPr lang="en-US" sz="1600" b="1">
                <a:solidFill>
                  <a:srgbClr val="0A1628"/>
                </a:solidFill>
                <a:latin typeface="Calibri" pitchFamily="34" charset="0"/>
                <a:ea typeface="Calibri" pitchFamily="34" charset="-122"/>
                <a:cs typeface="Calibri" pitchFamily="34" charset="-120"/>
              </a:rPr>
              <a:t>Context</a:t>
            </a:r>
            <a:endParaRPr lang="en-US" sz="1600" dirty="0"/>
          </a:p>
        </p:txBody>
      </p:sp>
      <p:sp>
        <p:nvSpPr>
          <p:cNvPr id="5" name="Shape 3"/>
          <p:cNvSpPr/>
          <p:nvPr/>
        </p:nvSpPr>
        <p:spPr>
          <a:xfrm>
            <a:off x="320040" y="1371600"/>
            <a:ext cx="3840480" cy="3200400"/>
          </a:xfrm>
          <a:prstGeom prst="rect">
            <a:avLst/>
          </a:prstGeom>
          <a:solidFill>
            <a:srgbClr val="E8EDF5"/>
          </a:solidFill>
          <a:ln w="12700">
            <a:solidFill>
              <a:srgbClr val="E8EDF5"/>
            </a:solidFill>
            <a:prstDash val="solid"/>
          </a:ln>
        </p:spPr>
        <p:txBody>
          <a:bodyPr/>
          <a:lstStyle/>
          <a:p>
            <a:endParaRPr lang="ro-RO"/>
          </a:p>
        </p:txBody>
      </p:sp>
      <p:sp>
        <p:nvSpPr>
          <p:cNvPr id="6" name="Text 4"/>
          <p:cNvSpPr/>
          <p:nvPr/>
        </p:nvSpPr>
        <p:spPr>
          <a:xfrm>
            <a:off x="457200" y="1417320"/>
            <a:ext cx="3566160" cy="3108960"/>
          </a:xfrm>
          <a:prstGeom prst="rect">
            <a:avLst/>
          </a:prstGeom>
          <a:noFill/>
          <a:ln/>
        </p:spPr>
        <p:txBody>
          <a:bodyPr wrap="square" lIns="0" tIns="0" rIns="0" bIns="0" rtlCol="0" anchor="t"/>
          <a:lstStyle/>
          <a:p>
            <a:pPr marL="0" indent="0" algn="l">
              <a:buNone/>
            </a:pPr>
            <a:r>
              <a:rPr lang="en-US" sz="1300" dirty="0">
                <a:solidFill>
                  <a:srgbClr val="0A1628"/>
                </a:solidFill>
                <a:latin typeface="Calibri" pitchFamily="34" charset="0"/>
                <a:ea typeface="Calibri" pitchFamily="34" charset="-122"/>
                <a:cs typeface="Calibri" pitchFamily="34" charset="-120"/>
              </a:rPr>
              <a:t>O bancă digitală </a:t>
            </a:r>
            <a:r>
              <a:rPr lang="en-US" sz="1300">
                <a:solidFill>
                  <a:srgbClr val="0A1628"/>
                </a:solidFill>
                <a:latin typeface="Calibri" pitchFamily="34" charset="0"/>
                <a:ea typeface="Calibri" pitchFamily="34" charset="-122"/>
                <a:cs typeface="Calibri" pitchFamily="34" charset="-120"/>
              </a:rPr>
              <a:t>modernă trebuie </a:t>
            </a:r>
            <a:r>
              <a:rPr lang="en-US" sz="1300" dirty="0">
                <a:solidFill>
                  <a:srgbClr val="0A1628"/>
                </a:solidFill>
                <a:latin typeface="Calibri" pitchFamily="34" charset="0"/>
                <a:ea typeface="Calibri" pitchFamily="34" charset="-122"/>
                <a:cs typeface="Calibri" pitchFamily="34" charset="-120"/>
              </a:rPr>
              <a:t>să gestioneze în timp real milioane de operații simultan. Fiecare transfer, plată sau interogare de sold implică operații critice de baze de date care trebuie să fie corecte, rapide și sigure.</a:t>
            </a:r>
            <a:endParaRPr lang="en-US" sz="1300" dirty="0"/>
          </a:p>
          <a:p>
            <a:pPr marL="0" indent="0" algn="l">
              <a:buNone/>
            </a:pPr>
            <a:endParaRPr lang="en-US" sz="1300" dirty="0"/>
          </a:p>
          <a:p>
            <a:pPr marL="0" indent="0" algn="l">
              <a:buNone/>
            </a:pPr>
            <a:r>
              <a:rPr lang="en-US" sz="1300" dirty="0">
                <a:solidFill>
                  <a:srgbClr val="0A1628"/>
                </a:solidFill>
                <a:latin typeface="Calibri" pitchFamily="34" charset="0"/>
                <a:ea typeface="Calibri" pitchFamily="34" charset="-122"/>
                <a:cs typeface="Calibri" pitchFamily="34" charset="-120"/>
              </a:rPr>
              <a:t>Proiectul simulează un astfel de sistem la scară redusă, implementând toate componentele esențiale: gestiunea clienților, conturilor, tranzacțiilor și securitatea datelor.</a:t>
            </a:r>
            <a:endParaRPr lang="en-US" sz="1300" dirty="0"/>
          </a:p>
        </p:txBody>
      </p:sp>
      <p:sp>
        <p:nvSpPr>
          <p:cNvPr id="7" name="Text 5"/>
          <p:cNvSpPr/>
          <p:nvPr/>
        </p:nvSpPr>
        <p:spPr>
          <a:xfrm>
            <a:off x="4663440" y="960120"/>
            <a:ext cx="4114800" cy="411480"/>
          </a:xfrm>
          <a:prstGeom prst="rect">
            <a:avLst/>
          </a:prstGeom>
          <a:noFill/>
          <a:ln/>
        </p:spPr>
        <p:txBody>
          <a:bodyPr wrap="square" lIns="0" tIns="0" rIns="0" bIns="0" rtlCol="0" anchor="ctr"/>
          <a:lstStyle/>
          <a:p>
            <a:pPr marL="0" indent="0">
              <a:buNone/>
            </a:pPr>
            <a:r>
              <a:rPr lang="en-US" sz="1600" b="1" dirty="0">
                <a:solidFill>
                  <a:srgbClr val="0A1628"/>
                </a:solidFill>
                <a:latin typeface="Calibri" pitchFamily="34" charset="0"/>
                <a:ea typeface="Calibri" pitchFamily="34" charset="-122"/>
                <a:cs typeface="Calibri" pitchFamily="34" charset="-120"/>
              </a:rPr>
              <a:t>Obiective Tehnice</a:t>
            </a:r>
            <a:endParaRPr lang="en-US" sz="1600" dirty="0"/>
          </a:p>
        </p:txBody>
      </p:sp>
      <p:sp>
        <p:nvSpPr>
          <p:cNvPr id="8" name="Shape 6"/>
          <p:cNvSpPr/>
          <p:nvPr/>
        </p:nvSpPr>
        <p:spPr>
          <a:xfrm>
            <a:off x="4663440" y="1371600"/>
            <a:ext cx="54864" cy="457200"/>
          </a:xfrm>
          <a:prstGeom prst="rect">
            <a:avLst/>
          </a:prstGeom>
          <a:solidFill>
            <a:srgbClr val="C9A84C"/>
          </a:solidFill>
          <a:ln w="12700">
            <a:solidFill>
              <a:srgbClr val="C9A84C"/>
            </a:solidFill>
            <a:prstDash val="solid"/>
          </a:ln>
        </p:spPr>
        <p:txBody>
          <a:bodyPr/>
          <a:lstStyle/>
          <a:p>
            <a:endParaRPr lang="ro-RO"/>
          </a:p>
        </p:txBody>
      </p:sp>
      <p:sp>
        <p:nvSpPr>
          <p:cNvPr id="9" name="Text 7"/>
          <p:cNvSpPr/>
          <p:nvPr/>
        </p:nvSpPr>
        <p:spPr>
          <a:xfrm>
            <a:off x="4846320" y="1371600"/>
            <a:ext cx="1188720" cy="22860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Schema BD</a:t>
            </a:r>
            <a:endParaRPr lang="en-US" sz="1200" dirty="0"/>
          </a:p>
        </p:txBody>
      </p:sp>
      <p:sp>
        <p:nvSpPr>
          <p:cNvPr id="10" name="Text 8"/>
          <p:cNvSpPr/>
          <p:nvPr/>
        </p:nvSpPr>
        <p:spPr>
          <a:xfrm>
            <a:off x="4846320" y="1581912"/>
            <a:ext cx="3931920" cy="256032"/>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Proiectare ER și normalizare până la 3NF</a:t>
            </a:r>
            <a:endParaRPr lang="en-US" sz="1100" dirty="0"/>
          </a:p>
        </p:txBody>
      </p:sp>
      <p:sp>
        <p:nvSpPr>
          <p:cNvPr id="11" name="Shape 9"/>
          <p:cNvSpPr/>
          <p:nvPr/>
        </p:nvSpPr>
        <p:spPr>
          <a:xfrm>
            <a:off x="4663440" y="1965960"/>
            <a:ext cx="54864" cy="457200"/>
          </a:xfrm>
          <a:prstGeom prst="rect">
            <a:avLst/>
          </a:prstGeom>
          <a:solidFill>
            <a:srgbClr val="C9A84C"/>
          </a:solidFill>
          <a:ln w="12700">
            <a:solidFill>
              <a:srgbClr val="C9A84C"/>
            </a:solidFill>
            <a:prstDash val="solid"/>
          </a:ln>
        </p:spPr>
        <p:txBody>
          <a:bodyPr/>
          <a:lstStyle/>
          <a:p>
            <a:endParaRPr lang="ro-RO"/>
          </a:p>
        </p:txBody>
      </p:sp>
      <p:sp>
        <p:nvSpPr>
          <p:cNvPr id="12" name="Text 10"/>
          <p:cNvSpPr/>
          <p:nvPr/>
        </p:nvSpPr>
        <p:spPr>
          <a:xfrm>
            <a:off x="4846320" y="1965960"/>
            <a:ext cx="1188720" cy="22860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SQL Complex</a:t>
            </a:r>
            <a:endParaRPr lang="en-US" sz="1200" dirty="0"/>
          </a:p>
        </p:txBody>
      </p:sp>
      <p:sp>
        <p:nvSpPr>
          <p:cNvPr id="13" name="Text 11"/>
          <p:cNvSpPr/>
          <p:nvPr/>
        </p:nvSpPr>
        <p:spPr>
          <a:xfrm>
            <a:off x="4846320" y="2176272"/>
            <a:ext cx="3931920" cy="256032"/>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JOIN-uri, subquery-uri, funcții de agregare</a:t>
            </a:r>
            <a:endParaRPr lang="en-US" sz="1100" dirty="0"/>
          </a:p>
        </p:txBody>
      </p:sp>
      <p:sp>
        <p:nvSpPr>
          <p:cNvPr id="14" name="Shape 12"/>
          <p:cNvSpPr/>
          <p:nvPr/>
        </p:nvSpPr>
        <p:spPr>
          <a:xfrm>
            <a:off x="4663440" y="2560320"/>
            <a:ext cx="54864" cy="457200"/>
          </a:xfrm>
          <a:prstGeom prst="rect">
            <a:avLst/>
          </a:prstGeom>
          <a:solidFill>
            <a:srgbClr val="C9A84C"/>
          </a:solidFill>
          <a:ln w="12700">
            <a:solidFill>
              <a:srgbClr val="C9A84C"/>
            </a:solidFill>
            <a:prstDash val="solid"/>
          </a:ln>
        </p:spPr>
        <p:txBody>
          <a:bodyPr/>
          <a:lstStyle/>
          <a:p>
            <a:endParaRPr lang="ro-RO"/>
          </a:p>
        </p:txBody>
      </p:sp>
      <p:sp>
        <p:nvSpPr>
          <p:cNvPr id="15" name="Text 13"/>
          <p:cNvSpPr/>
          <p:nvPr/>
        </p:nvSpPr>
        <p:spPr>
          <a:xfrm>
            <a:off x="4846320" y="2560320"/>
            <a:ext cx="1188720" cy="22860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Server-side</a:t>
            </a:r>
            <a:endParaRPr lang="en-US" sz="1200" dirty="0"/>
          </a:p>
        </p:txBody>
      </p:sp>
      <p:sp>
        <p:nvSpPr>
          <p:cNvPr id="16" name="Text 14"/>
          <p:cNvSpPr/>
          <p:nvPr/>
        </p:nvSpPr>
        <p:spPr>
          <a:xfrm>
            <a:off x="4846320" y="2770632"/>
            <a:ext cx="3931920" cy="256032"/>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Triggere, proceduri stocate, view-uri</a:t>
            </a:r>
            <a:endParaRPr lang="en-US" sz="1100" dirty="0"/>
          </a:p>
        </p:txBody>
      </p:sp>
      <p:sp>
        <p:nvSpPr>
          <p:cNvPr id="17" name="Shape 15"/>
          <p:cNvSpPr/>
          <p:nvPr/>
        </p:nvSpPr>
        <p:spPr>
          <a:xfrm>
            <a:off x="4663440" y="3154680"/>
            <a:ext cx="54864" cy="457200"/>
          </a:xfrm>
          <a:prstGeom prst="rect">
            <a:avLst/>
          </a:prstGeom>
          <a:solidFill>
            <a:srgbClr val="C9A84C"/>
          </a:solidFill>
          <a:ln w="12700">
            <a:solidFill>
              <a:srgbClr val="C9A84C"/>
            </a:solidFill>
            <a:prstDash val="solid"/>
          </a:ln>
        </p:spPr>
        <p:txBody>
          <a:bodyPr/>
          <a:lstStyle/>
          <a:p>
            <a:endParaRPr lang="ro-RO"/>
          </a:p>
        </p:txBody>
      </p:sp>
      <p:sp>
        <p:nvSpPr>
          <p:cNvPr id="18" name="Text 16"/>
          <p:cNvSpPr/>
          <p:nvPr/>
        </p:nvSpPr>
        <p:spPr>
          <a:xfrm>
            <a:off x="4846320" y="3154680"/>
            <a:ext cx="1188720" cy="22860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ACID</a:t>
            </a:r>
            <a:endParaRPr lang="en-US" sz="1200" dirty="0"/>
          </a:p>
        </p:txBody>
      </p:sp>
      <p:sp>
        <p:nvSpPr>
          <p:cNvPr id="19" name="Text 17"/>
          <p:cNvSpPr/>
          <p:nvPr/>
        </p:nvSpPr>
        <p:spPr>
          <a:xfrm>
            <a:off x="4846320" y="3364992"/>
            <a:ext cx="3931920" cy="256032"/>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Tranzacții atomice cu rollback automat</a:t>
            </a:r>
            <a:endParaRPr lang="en-US" sz="1100" dirty="0"/>
          </a:p>
        </p:txBody>
      </p:sp>
      <p:sp>
        <p:nvSpPr>
          <p:cNvPr id="20" name="Shape 18"/>
          <p:cNvSpPr/>
          <p:nvPr/>
        </p:nvSpPr>
        <p:spPr>
          <a:xfrm>
            <a:off x="4663440" y="3749040"/>
            <a:ext cx="54864" cy="457200"/>
          </a:xfrm>
          <a:prstGeom prst="rect">
            <a:avLst/>
          </a:prstGeom>
          <a:solidFill>
            <a:srgbClr val="C9A84C"/>
          </a:solidFill>
          <a:ln w="12700">
            <a:solidFill>
              <a:srgbClr val="C9A84C"/>
            </a:solidFill>
            <a:prstDash val="solid"/>
          </a:ln>
        </p:spPr>
        <p:txBody>
          <a:bodyPr/>
          <a:lstStyle/>
          <a:p>
            <a:endParaRPr lang="ro-RO"/>
          </a:p>
        </p:txBody>
      </p:sp>
      <p:sp>
        <p:nvSpPr>
          <p:cNvPr id="21" name="Text 19"/>
          <p:cNvSpPr/>
          <p:nvPr/>
        </p:nvSpPr>
        <p:spPr>
          <a:xfrm>
            <a:off x="4846320" y="3749040"/>
            <a:ext cx="1188720" cy="22860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Optimizare</a:t>
            </a:r>
            <a:endParaRPr lang="en-US" sz="1200" dirty="0"/>
          </a:p>
        </p:txBody>
      </p:sp>
      <p:sp>
        <p:nvSpPr>
          <p:cNvPr id="22" name="Text 20"/>
          <p:cNvSpPr/>
          <p:nvPr/>
        </p:nvSpPr>
        <p:spPr>
          <a:xfrm>
            <a:off x="4846320" y="3959352"/>
            <a:ext cx="3931920" cy="256032"/>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Indecși, planuri de execuție, securitate</a:t>
            </a:r>
            <a:endParaRPr lang="en-US" sz="1100" dirty="0"/>
          </a:p>
        </p:txBody>
      </p:sp>
      <p:sp>
        <p:nvSpPr>
          <p:cNvPr id="23" name="Shape 21"/>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ro-RO"/>
          </a:p>
        </p:txBody>
      </p:sp>
      <p:sp>
        <p:nvSpPr>
          <p:cNvPr id="24" name="Text 22"/>
          <p:cNvSpPr/>
          <p:nvPr/>
        </p:nvSpPr>
        <p:spPr>
          <a:xfrm>
            <a:off x="274320" y="4892040"/>
            <a:ext cx="8595360" cy="251460"/>
          </a:xfrm>
          <a:prstGeom prst="rect">
            <a:avLst/>
          </a:prstGeom>
          <a:noFill/>
          <a:ln/>
        </p:spPr>
        <p:txBody>
          <a:bodyPr wrap="square" lIns="0" tIns="0" rIns="0" bIns="0" rtlCol="0" anchor="ctr"/>
          <a:lstStyle/>
          <a:p>
            <a:pPr marL="0" indent="0">
              <a:buNone/>
            </a:pPr>
            <a:r>
              <a:rPr lang="en-US" sz="1000" dirty="0">
                <a:solidFill>
                  <a:srgbClr val="8FA3BF"/>
                </a:solidFill>
                <a:latin typeface="Calibri" pitchFamily="34" charset="0"/>
                <a:ea typeface="Calibri" pitchFamily="34" charset="-122"/>
                <a:cs typeface="Calibri" pitchFamily="34" charset="-120"/>
              </a:rPr>
              <a:t>Proiect 9 — Sistem Bancar Simplificat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5EE350C-43E0-2711-5BC3-8E936F7DB219}"/>
              </a:ext>
            </a:extLst>
          </p:cNvPr>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ro-RO"/>
          </a:p>
        </p:txBody>
      </p:sp>
      <p:sp>
        <p:nvSpPr>
          <p:cNvPr id="3" name="Text 1">
            <a:extLst>
              <a:ext uri="{FF2B5EF4-FFF2-40B4-BE49-F238E27FC236}">
                <a16:creationId xmlns:a16="http://schemas.microsoft.com/office/drawing/2014/main" id="{0DBB1476-F584-6DBA-0E5B-78EB912AC5B8}"/>
              </a:ext>
            </a:extLst>
          </p:cNvPr>
          <p:cNvSpPr/>
          <p:nvPr/>
        </p:nvSpPr>
        <p:spPr>
          <a:xfrm>
            <a:off x="365760" y="0"/>
            <a:ext cx="8412480" cy="822960"/>
          </a:xfrm>
          <a:prstGeom prst="rect">
            <a:avLst/>
          </a:prstGeom>
          <a:noFill/>
          <a:ln/>
        </p:spPr>
        <p:txBody>
          <a:bodyPr wrap="square" lIns="0" tIns="0" rIns="0" bIns="0" rtlCol="0" anchor="ctr"/>
          <a:lstStyle/>
          <a:p>
            <a:pPr marL="0" indent="0">
              <a:buNone/>
            </a:pPr>
            <a:r>
              <a:rPr lang="ro-RO" sz="2600" b="1">
                <a:solidFill>
                  <a:srgbClr val="FFFFFF"/>
                </a:solidFill>
                <a:latin typeface="Calibri" pitchFamily="34" charset="0"/>
                <a:ea typeface="Calibri" pitchFamily="34" charset="-122"/>
                <a:cs typeface="Calibri" pitchFamily="34" charset="-120"/>
              </a:rPr>
              <a:t>Diagrama ER</a:t>
            </a:r>
            <a:endParaRPr lang="en-US" sz="2600" dirty="0"/>
          </a:p>
        </p:txBody>
      </p:sp>
      <p:pic>
        <p:nvPicPr>
          <p:cNvPr id="5" name="Picture 4">
            <a:extLst>
              <a:ext uri="{FF2B5EF4-FFF2-40B4-BE49-F238E27FC236}">
                <a16:creationId xmlns:a16="http://schemas.microsoft.com/office/drawing/2014/main" id="{1B9C0ACE-BC3D-20D5-DE49-6A31FF930DA3}"/>
              </a:ext>
            </a:extLst>
          </p:cNvPr>
          <p:cNvPicPr>
            <a:picLocks noChangeAspect="1"/>
          </p:cNvPicPr>
          <p:nvPr/>
        </p:nvPicPr>
        <p:blipFill>
          <a:blip r:embed="rId2"/>
          <a:srcRect/>
          <a:stretch/>
        </p:blipFill>
        <p:spPr>
          <a:xfrm>
            <a:off x="1011023" y="891169"/>
            <a:ext cx="7121953" cy="4252331"/>
          </a:xfrm>
          <a:prstGeom prst="rect">
            <a:avLst/>
          </a:prstGeom>
        </p:spPr>
      </p:pic>
    </p:spTree>
    <p:extLst>
      <p:ext uri="{BB962C8B-B14F-4D97-AF65-F5344CB8AC3E}">
        <p14:creationId xmlns:p14="http://schemas.microsoft.com/office/powerpoint/2010/main" val="4012348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ro-RO"/>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Schema Bazei de Date — Tabele Principale</a:t>
            </a:r>
            <a:endParaRPr lang="en-US" sz="2600" dirty="0"/>
          </a:p>
        </p:txBody>
      </p:sp>
      <p:sp>
        <p:nvSpPr>
          <p:cNvPr id="4" name="Shape 2"/>
          <p:cNvSpPr/>
          <p:nvPr/>
        </p:nvSpPr>
        <p:spPr>
          <a:xfrm>
            <a:off x="182880" y="960120"/>
            <a:ext cx="2057400" cy="1783080"/>
          </a:xfrm>
          <a:prstGeom prst="rect">
            <a:avLst/>
          </a:prstGeom>
          <a:solidFill>
            <a:srgbClr val="112240"/>
          </a:solidFill>
          <a:ln w="12700">
            <a:solidFill>
              <a:srgbClr val="112240"/>
            </a:solidFill>
            <a:prstDash val="solid"/>
          </a:ln>
        </p:spPr>
        <p:txBody>
          <a:bodyPr/>
          <a:lstStyle/>
          <a:p>
            <a:endParaRPr lang="ro-RO"/>
          </a:p>
        </p:txBody>
      </p:sp>
      <p:sp>
        <p:nvSpPr>
          <p:cNvPr id="5" name="Shape 3"/>
          <p:cNvSpPr/>
          <p:nvPr/>
        </p:nvSpPr>
        <p:spPr>
          <a:xfrm>
            <a:off x="182880" y="960120"/>
            <a:ext cx="2057400" cy="347472"/>
          </a:xfrm>
          <a:prstGeom prst="rect">
            <a:avLst/>
          </a:prstGeom>
          <a:solidFill>
            <a:srgbClr val="C9A84C"/>
          </a:solidFill>
          <a:ln w="12700">
            <a:solidFill>
              <a:srgbClr val="C9A84C"/>
            </a:solidFill>
            <a:prstDash val="solid"/>
          </a:ln>
        </p:spPr>
        <p:txBody>
          <a:bodyPr/>
          <a:lstStyle/>
          <a:p>
            <a:endParaRPr lang="ro-RO"/>
          </a:p>
        </p:txBody>
      </p:sp>
      <p:sp>
        <p:nvSpPr>
          <p:cNvPr id="6" name="Text 4"/>
          <p:cNvSpPr/>
          <p:nvPr/>
        </p:nvSpPr>
        <p:spPr>
          <a:xfrm>
            <a:off x="182880" y="960120"/>
            <a:ext cx="2057400" cy="347472"/>
          </a:xfrm>
          <a:prstGeom prst="rect">
            <a:avLst/>
          </a:prstGeom>
          <a:noFill/>
          <a:ln/>
        </p:spPr>
        <p:txBody>
          <a:bodyPr wrap="square" lIns="0" tIns="0" rIns="0" bIns="0" rtlCol="0" anchor="ctr"/>
          <a:lstStyle/>
          <a:p>
            <a:pPr marL="0" indent="0" algn="ctr">
              <a:buNone/>
            </a:pPr>
            <a:r>
              <a:rPr lang="en-US" sz="1200" b="1" dirty="0">
                <a:solidFill>
                  <a:srgbClr val="0A1628"/>
                </a:solidFill>
                <a:latin typeface="Calibri" pitchFamily="34" charset="0"/>
                <a:ea typeface="Calibri" pitchFamily="34" charset="-122"/>
                <a:cs typeface="Calibri" pitchFamily="34" charset="-120"/>
              </a:rPr>
              <a:t>clienti</a:t>
            </a:r>
            <a:endParaRPr lang="en-US" sz="1200" dirty="0"/>
          </a:p>
        </p:txBody>
      </p:sp>
      <p:sp>
        <p:nvSpPr>
          <p:cNvPr id="7" name="Text 5"/>
          <p:cNvSpPr/>
          <p:nvPr/>
        </p:nvSpPr>
        <p:spPr>
          <a:xfrm>
            <a:off x="246888" y="1344168"/>
            <a:ext cx="1920240" cy="1353312"/>
          </a:xfrm>
          <a:prstGeom prst="rect">
            <a:avLst/>
          </a:prstGeom>
          <a:noFill/>
          <a:ln/>
        </p:spPr>
        <p:txBody>
          <a:bodyPr wrap="square" lIns="0" tIns="0" rIns="0" bIns="0" rtlCol="0" anchor="t"/>
          <a:lstStyle/>
          <a:p>
            <a:r>
              <a:rPr lang="ro-RO" sz="1000">
                <a:solidFill>
                  <a:schemeClr val="bg1"/>
                </a:solidFill>
              </a:rPr>
              <a:t>  `id_client` int(11) NOT NULL,</a:t>
            </a:r>
          </a:p>
          <a:p>
            <a:r>
              <a:rPr lang="ro-RO" sz="1000">
                <a:solidFill>
                  <a:schemeClr val="bg1"/>
                </a:solidFill>
              </a:rPr>
              <a:t>  `tip_client` enum('PF','PJ') NOT NULL,</a:t>
            </a:r>
          </a:p>
          <a:p>
            <a:r>
              <a:rPr lang="ro-RO" sz="1000">
                <a:solidFill>
                  <a:schemeClr val="bg1"/>
                </a:solidFill>
              </a:rPr>
              <a:t>  `email` varchar(100) DEFAULT NULL,</a:t>
            </a:r>
          </a:p>
          <a:p>
            <a:r>
              <a:rPr lang="ro-RO" sz="1000">
                <a:solidFill>
                  <a:schemeClr val="bg1"/>
                </a:solidFill>
              </a:rPr>
              <a:t>  `telefon` varchar(20) DEFAULT NULL,</a:t>
            </a:r>
          </a:p>
          <a:p>
            <a:r>
              <a:rPr lang="ro-RO" sz="1000">
                <a:solidFill>
                  <a:schemeClr val="bg1"/>
                </a:solidFill>
              </a:rPr>
              <a:t>  `data_aderare` timestamp NOT NULL DEFAULT current_timestamp()</a:t>
            </a:r>
          </a:p>
        </p:txBody>
      </p:sp>
      <p:sp>
        <p:nvSpPr>
          <p:cNvPr id="8" name="Shape 6"/>
          <p:cNvSpPr/>
          <p:nvPr/>
        </p:nvSpPr>
        <p:spPr>
          <a:xfrm>
            <a:off x="2395728" y="960120"/>
            <a:ext cx="2057400" cy="1783080"/>
          </a:xfrm>
          <a:prstGeom prst="rect">
            <a:avLst/>
          </a:prstGeom>
          <a:solidFill>
            <a:srgbClr val="112240"/>
          </a:solidFill>
          <a:ln w="12700">
            <a:solidFill>
              <a:srgbClr val="112240"/>
            </a:solidFill>
            <a:prstDash val="solid"/>
          </a:ln>
        </p:spPr>
        <p:txBody>
          <a:bodyPr/>
          <a:lstStyle/>
          <a:p>
            <a:endParaRPr lang="ro-RO"/>
          </a:p>
        </p:txBody>
      </p:sp>
      <p:sp>
        <p:nvSpPr>
          <p:cNvPr id="9" name="Shape 7"/>
          <p:cNvSpPr/>
          <p:nvPr/>
        </p:nvSpPr>
        <p:spPr>
          <a:xfrm>
            <a:off x="2395728" y="960120"/>
            <a:ext cx="2057400" cy="347472"/>
          </a:xfrm>
          <a:prstGeom prst="rect">
            <a:avLst/>
          </a:prstGeom>
          <a:solidFill>
            <a:srgbClr val="C9A84C"/>
          </a:solidFill>
          <a:ln w="12700">
            <a:solidFill>
              <a:srgbClr val="C9A84C"/>
            </a:solidFill>
            <a:prstDash val="solid"/>
          </a:ln>
        </p:spPr>
        <p:txBody>
          <a:bodyPr/>
          <a:lstStyle/>
          <a:p>
            <a:endParaRPr lang="ro-RO"/>
          </a:p>
        </p:txBody>
      </p:sp>
      <p:sp>
        <p:nvSpPr>
          <p:cNvPr id="10" name="Text 8"/>
          <p:cNvSpPr/>
          <p:nvPr/>
        </p:nvSpPr>
        <p:spPr>
          <a:xfrm>
            <a:off x="2395728" y="960120"/>
            <a:ext cx="2057400" cy="347472"/>
          </a:xfrm>
          <a:prstGeom prst="rect">
            <a:avLst/>
          </a:prstGeom>
          <a:noFill/>
          <a:ln/>
        </p:spPr>
        <p:txBody>
          <a:bodyPr wrap="square" lIns="0" tIns="0" rIns="0" bIns="0" rtlCol="0" anchor="ctr"/>
          <a:lstStyle/>
          <a:p>
            <a:pPr marL="0" indent="0" algn="ctr">
              <a:buNone/>
            </a:pPr>
            <a:r>
              <a:rPr lang="en-US" sz="1200" b="1" dirty="0">
                <a:solidFill>
                  <a:srgbClr val="0A1628"/>
                </a:solidFill>
                <a:latin typeface="Calibri" pitchFamily="34" charset="0"/>
                <a:ea typeface="Calibri" pitchFamily="34" charset="-122"/>
                <a:cs typeface="Calibri" pitchFamily="34" charset="-120"/>
              </a:rPr>
              <a:t>detalii_pf</a:t>
            </a:r>
            <a:endParaRPr lang="en-US" sz="1200" dirty="0"/>
          </a:p>
        </p:txBody>
      </p:sp>
      <p:sp>
        <p:nvSpPr>
          <p:cNvPr id="11" name="Text 9"/>
          <p:cNvSpPr/>
          <p:nvPr/>
        </p:nvSpPr>
        <p:spPr>
          <a:xfrm>
            <a:off x="2459736" y="1344168"/>
            <a:ext cx="1920240" cy="1353312"/>
          </a:xfrm>
          <a:prstGeom prst="rect">
            <a:avLst/>
          </a:prstGeom>
          <a:noFill/>
          <a:ln/>
        </p:spPr>
        <p:txBody>
          <a:bodyPr wrap="square" lIns="0" tIns="0" rIns="0" bIns="0" rtlCol="0" anchor="t"/>
          <a:lstStyle/>
          <a:p>
            <a:r>
              <a:rPr lang="en-US" sz="1200">
                <a:solidFill>
                  <a:schemeClr val="bg1"/>
                </a:solidFill>
              </a:rPr>
              <a:t>  `id_client` int(11) NOT NULL,</a:t>
            </a:r>
          </a:p>
          <a:p>
            <a:r>
              <a:rPr lang="en-US" sz="1200">
                <a:solidFill>
                  <a:schemeClr val="bg1"/>
                </a:solidFill>
              </a:rPr>
              <a:t>  `nume` varchar(50) NOT NULL,</a:t>
            </a:r>
          </a:p>
          <a:p>
            <a:r>
              <a:rPr lang="en-US" sz="1200">
                <a:solidFill>
                  <a:schemeClr val="bg1"/>
                </a:solidFill>
              </a:rPr>
              <a:t>  `prenume` varchar(50) NOT NULL,</a:t>
            </a:r>
          </a:p>
          <a:p>
            <a:r>
              <a:rPr lang="en-US" sz="1200">
                <a:solidFill>
                  <a:schemeClr val="bg1"/>
                </a:solidFill>
              </a:rPr>
              <a:t>  `cnp` char(13) NOT NULL</a:t>
            </a:r>
          </a:p>
        </p:txBody>
      </p:sp>
      <p:sp>
        <p:nvSpPr>
          <p:cNvPr id="12" name="Shape 10"/>
          <p:cNvSpPr/>
          <p:nvPr/>
        </p:nvSpPr>
        <p:spPr>
          <a:xfrm>
            <a:off x="4608576" y="960120"/>
            <a:ext cx="2057400" cy="1783080"/>
          </a:xfrm>
          <a:prstGeom prst="rect">
            <a:avLst/>
          </a:prstGeom>
          <a:solidFill>
            <a:srgbClr val="112240"/>
          </a:solidFill>
          <a:ln w="12700">
            <a:solidFill>
              <a:srgbClr val="112240"/>
            </a:solidFill>
            <a:prstDash val="solid"/>
          </a:ln>
        </p:spPr>
        <p:txBody>
          <a:bodyPr/>
          <a:lstStyle/>
          <a:p>
            <a:endParaRPr lang="ro-RO"/>
          </a:p>
        </p:txBody>
      </p:sp>
      <p:sp>
        <p:nvSpPr>
          <p:cNvPr id="13" name="Shape 11"/>
          <p:cNvSpPr/>
          <p:nvPr/>
        </p:nvSpPr>
        <p:spPr>
          <a:xfrm>
            <a:off x="4608576" y="960120"/>
            <a:ext cx="2057400" cy="347472"/>
          </a:xfrm>
          <a:prstGeom prst="rect">
            <a:avLst/>
          </a:prstGeom>
          <a:solidFill>
            <a:srgbClr val="C9A84C"/>
          </a:solidFill>
          <a:ln w="12700">
            <a:solidFill>
              <a:srgbClr val="C9A84C"/>
            </a:solidFill>
            <a:prstDash val="solid"/>
          </a:ln>
        </p:spPr>
        <p:txBody>
          <a:bodyPr/>
          <a:lstStyle/>
          <a:p>
            <a:endParaRPr lang="ro-RO"/>
          </a:p>
        </p:txBody>
      </p:sp>
      <p:sp>
        <p:nvSpPr>
          <p:cNvPr id="14" name="Text 12"/>
          <p:cNvSpPr/>
          <p:nvPr/>
        </p:nvSpPr>
        <p:spPr>
          <a:xfrm>
            <a:off x="4608576" y="960120"/>
            <a:ext cx="2057400" cy="347472"/>
          </a:xfrm>
          <a:prstGeom prst="rect">
            <a:avLst/>
          </a:prstGeom>
          <a:noFill/>
          <a:ln/>
        </p:spPr>
        <p:txBody>
          <a:bodyPr wrap="square" lIns="0" tIns="0" rIns="0" bIns="0" rtlCol="0" anchor="ctr"/>
          <a:lstStyle/>
          <a:p>
            <a:pPr marL="0" indent="0" algn="ctr">
              <a:buNone/>
            </a:pPr>
            <a:r>
              <a:rPr lang="en-US" sz="1200" b="1" dirty="0">
                <a:solidFill>
                  <a:srgbClr val="0A1628"/>
                </a:solidFill>
                <a:latin typeface="Calibri" pitchFamily="34" charset="0"/>
                <a:ea typeface="Calibri" pitchFamily="34" charset="-122"/>
                <a:cs typeface="Calibri" pitchFamily="34" charset="-120"/>
              </a:rPr>
              <a:t>detalii_pj</a:t>
            </a:r>
            <a:endParaRPr lang="en-US" sz="1200" dirty="0"/>
          </a:p>
        </p:txBody>
      </p:sp>
      <p:sp>
        <p:nvSpPr>
          <p:cNvPr id="15" name="Text 13"/>
          <p:cNvSpPr/>
          <p:nvPr/>
        </p:nvSpPr>
        <p:spPr>
          <a:xfrm>
            <a:off x="4672584" y="1344168"/>
            <a:ext cx="1920240" cy="1353312"/>
          </a:xfrm>
          <a:prstGeom prst="rect">
            <a:avLst/>
          </a:prstGeom>
          <a:noFill/>
          <a:ln/>
        </p:spPr>
        <p:txBody>
          <a:bodyPr wrap="square" lIns="0" tIns="0" rIns="0" bIns="0" rtlCol="0" anchor="t"/>
          <a:lstStyle/>
          <a:p>
            <a:r>
              <a:rPr lang="ro-RO" sz="1200">
                <a:solidFill>
                  <a:schemeClr val="bg1"/>
                </a:solidFill>
              </a:rPr>
              <a:t>  `id_client` int(11) NOT NULL,</a:t>
            </a:r>
          </a:p>
          <a:p>
            <a:r>
              <a:rPr lang="ro-RO" sz="1200">
                <a:solidFill>
                  <a:schemeClr val="bg1"/>
                </a:solidFill>
              </a:rPr>
              <a:t>  `denumire_firma` varchar(150) NOT NULL,</a:t>
            </a:r>
          </a:p>
          <a:p>
            <a:r>
              <a:rPr lang="ro-RO" sz="1200">
                <a:solidFill>
                  <a:schemeClr val="bg1"/>
                </a:solidFill>
              </a:rPr>
              <a:t>  `cui` varchar(20) NOT NULL,</a:t>
            </a:r>
          </a:p>
          <a:p>
            <a:r>
              <a:rPr lang="ro-RO" sz="1200">
                <a:solidFill>
                  <a:schemeClr val="bg1"/>
                </a:solidFill>
              </a:rPr>
              <a:t>  `nume_administrator` varchar(100) DEFAULT NULL</a:t>
            </a:r>
          </a:p>
        </p:txBody>
      </p:sp>
      <p:sp>
        <p:nvSpPr>
          <p:cNvPr id="16" name="Shape 14"/>
          <p:cNvSpPr/>
          <p:nvPr/>
        </p:nvSpPr>
        <p:spPr>
          <a:xfrm>
            <a:off x="6821424" y="960120"/>
            <a:ext cx="2057400" cy="1783080"/>
          </a:xfrm>
          <a:prstGeom prst="rect">
            <a:avLst/>
          </a:prstGeom>
          <a:solidFill>
            <a:srgbClr val="112240"/>
          </a:solidFill>
          <a:ln w="12700">
            <a:solidFill>
              <a:srgbClr val="112240"/>
            </a:solidFill>
            <a:prstDash val="solid"/>
          </a:ln>
        </p:spPr>
        <p:txBody>
          <a:bodyPr/>
          <a:lstStyle/>
          <a:p>
            <a:endParaRPr lang="ro-RO"/>
          </a:p>
        </p:txBody>
      </p:sp>
      <p:sp>
        <p:nvSpPr>
          <p:cNvPr id="17" name="Shape 15"/>
          <p:cNvSpPr/>
          <p:nvPr/>
        </p:nvSpPr>
        <p:spPr>
          <a:xfrm>
            <a:off x="6821424" y="960120"/>
            <a:ext cx="2057400" cy="347472"/>
          </a:xfrm>
          <a:prstGeom prst="rect">
            <a:avLst/>
          </a:prstGeom>
          <a:solidFill>
            <a:srgbClr val="C9A84C"/>
          </a:solidFill>
          <a:ln w="12700">
            <a:solidFill>
              <a:srgbClr val="C9A84C"/>
            </a:solidFill>
            <a:prstDash val="solid"/>
          </a:ln>
        </p:spPr>
        <p:txBody>
          <a:bodyPr/>
          <a:lstStyle/>
          <a:p>
            <a:endParaRPr lang="ro-RO"/>
          </a:p>
        </p:txBody>
      </p:sp>
      <p:sp>
        <p:nvSpPr>
          <p:cNvPr id="18" name="Text 16"/>
          <p:cNvSpPr/>
          <p:nvPr/>
        </p:nvSpPr>
        <p:spPr>
          <a:xfrm>
            <a:off x="6821424" y="960120"/>
            <a:ext cx="2057400" cy="347472"/>
          </a:xfrm>
          <a:prstGeom prst="rect">
            <a:avLst/>
          </a:prstGeom>
          <a:noFill/>
          <a:ln/>
        </p:spPr>
        <p:txBody>
          <a:bodyPr wrap="square" lIns="0" tIns="0" rIns="0" bIns="0" rtlCol="0" anchor="ctr"/>
          <a:lstStyle/>
          <a:p>
            <a:pPr marL="0" indent="0" algn="ctr">
              <a:buNone/>
            </a:pPr>
            <a:r>
              <a:rPr lang="en-US" sz="1200" b="1" dirty="0">
                <a:solidFill>
                  <a:srgbClr val="0A1628"/>
                </a:solidFill>
                <a:latin typeface="Calibri" pitchFamily="34" charset="0"/>
                <a:ea typeface="Calibri" pitchFamily="34" charset="-122"/>
                <a:cs typeface="Calibri" pitchFamily="34" charset="-120"/>
              </a:rPr>
              <a:t>conturi</a:t>
            </a:r>
            <a:endParaRPr lang="en-US" sz="1200" dirty="0"/>
          </a:p>
        </p:txBody>
      </p:sp>
      <p:sp>
        <p:nvSpPr>
          <p:cNvPr id="19" name="Text 17"/>
          <p:cNvSpPr/>
          <p:nvPr/>
        </p:nvSpPr>
        <p:spPr>
          <a:xfrm>
            <a:off x="6885432" y="1344168"/>
            <a:ext cx="1920240" cy="1353312"/>
          </a:xfrm>
          <a:prstGeom prst="rect">
            <a:avLst/>
          </a:prstGeom>
          <a:noFill/>
          <a:ln/>
        </p:spPr>
        <p:txBody>
          <a:bodyPr wrap="square" lIns="0" tIns="0" rIns="0" bIns="0" rtlCol="0" anchor="t"/>
          <a:lstStyle/>
          <a:p>
            <a:r>
              <a:rPr lang="ro-RO" sz="900">
                <a:solidFill>
                  <a:schemeClr val="bg1"/>
                </a:solidFill>
              </a:rPr>
              <a:t>  `id_cont` int(11) NOT NULL,</a:t>
            </a:r>
          </a:p>
          <a:p>
            <a:r>
              <a:rPr lang="ro-RO" sz="900">
                <a:solidFill>
                  <a:schemeClr val="bg1"/>
                </a:solidFill>
              </a:rPr>
              <a:t>  `id_client` int(11) NOT NULL,</a:t>
            </a:r>
          </a:p>
          <a:p>
            <a:r>
              <a:rPr lang="ro-RO" sz="900">
                <a:solidFill>
                  <a:schemeClr val="bg1"/>
                </a:solidFill>
              </a:rPr>
              <a:t>  `id_tip_cont` int(11) NOT NULL,</a:t>
            </a:r>
          </a:p>
          <a:p>
            <a:r>
              <a:rPr lang="ro-RO" sz="900">
                <a:solidFill>
                  <a:schemeClr val="bg1"/>
                </a:solidFill>
              </a:rPr>
              <a:t>  `iban` varchar(24) NOT NULL,</a:t>
            </a:r>
          </a:p>
          <a:p>
            <a:r>
              <a:rPr lang="ro-RO" sz="900">
                <a:solidFill>
                  <a:schemeClr val="bg1"/>
                </a:solidFill>
              </a:rPr>
              <a:t>  `sold` decimal(15,2) DEFAULT 0.00,</a:t>
            </a:r>
          </a:p>
          <a:p>
            <a:r>
              <a:rPr lang="ro-RO" sz="900">
                <a:solidFill>
                  <a:schemeClr val="bg1"/>
                </a:solidFill>
              </a:rPr>
              <a:t>  `data_deschidere` date DEFAULT curdate(),</a:t>
            </a:r>
          </a:p>
          <a:p>
            <a:r>
              <a:rPr lang="ro-RO" sz="900">
                <a:solidFill>
                  <a:schemeClr val="bg1"/>
                </a:solidFill>
              </a:rPr>
              <a:t>  `status` enum('Activ','Inchis','Blocat') DEFAULT 'Activ',</a:t>
            </a:r>
          </a:p>
          <a:p>
            <a:r>
              <a:rPr lang="ro-RO" sz="900">
                <a:solidFill>
                  <a:schemeClr val="bg1"/>
                </a:solidFill>
              </a:rPr>
              <a:t>  `moneda` varchar(3) DEFAULT 'RON'</a:t>
            </a:r>
          </a:p>
        </p:txBody>
      </p:sp>
      <p:sp>
        <p:nvSpPr>
          <p:cNvPr id="20" name="Shape 18"/>
          <p:cNvSpPr/>
          <p:nvPr/>
        </p:nvSpPr>
        <p:spPr>
          <a:xfrm>
            <a:off x="182880" y="2926080"/>
            <a:ext cx="2057400" cy="1783080"/>
          </a:xfrm>
          <a:prstGeom prst="rect">
            <a:avLst/>
          </a:prstGeom>
          <a:solidFill>
            <a:srgbClr val="112240"/>
          </a:solidFill>
          <a:ln w="12700">
            <a:solidFill>
              <a:srgbClr val="112240"/>
            </a:solidFill>
            <a:prstDash val="solid"/>
          </a:ln>
        </p:spPr>
        <p:txBody>
          <a:bodyPr/>
          <a:lstStyle/>
          <a:p>
            <a:endParaRPr lang="ro-RO"/>
          </a:p>
        </p:txBody>
      </p:sp>
      <p:sp>
        <p:nvSpPr>
          <p:cNvPr id="21" name="Shape 19"/>
          <p:cNvSpPr/>
          <p:nvPr/>
        </p:nvSpPr>
        <p:spPr>
          <a:xfrm>
            <a:off x="182880" y="2926080"/>
            <a:ext cx="2057400" cy="347472"/>
          </a:xfrm>
          <a:prstGeom prst="rect">
            <a:avLst/>
          </a:prstGeom>
          <a:solidFill>
            <a:srgbClr val="C9A84C"/>
          </a:solidFill>
          <a:ln w="12700">
            <a:solidFill>
              <a:srgbClr val="C9A84C"/>
            </a:solidFill>
            <a:prstDash val="solid"/>
          </a:ln>
        </p:spPr>
        <p:txBody>
          <a:bodyPr/>
          <a:lstStyle/>
          <a:p>
            <a:endParaRPr lang="ro-RO"/>
          </a:p>
        </p:txBody>
      </p:sp>
      <p:sp>
        <p:nvSpPr>
          <p:cNvPr id="22" name="Text 20"/>
          <p:cNvSpPr/>
          <p:nvPr/>
        </p:nvSpPr>
        <p:spPr>
          <a:xfrm>
            <a:off x="182880" y="2926080"/>
            <a:ext cx="2057400" cy="347472"/>
          </a:xfrm>
          <a:prstGeom prst="rect">
            <a:avLst/>
          </a:prstGeom>
          <a:noFill/>
          <a:ln/>
        </p:spPr>
        <p:txBody>
          <a:bodyPr wrap="square" lIns="0" tIns="0" rIns="0" bIns="0" rtlCol="0" anchor="ctr"/>
          <a:lstStyle/>
          <a:p>
            <a:pPr marL="0" indent="0" algn="ctr">
              <a:buNone/>
            </a:pPr>
            <a:r>
              <a:rPr lang="en-US" sz="1200" b="1" dirty="0">
                <a:solidFill>
                  <a:srgbClr val="0A1628"/>
                </a:solidFill>
                <a:latin typeface="Calibri" pitchFamily="34" charset="0"/>
                <a:ea typeface="Calibri" pitchFamily="34" charset="-122"/>
                <a:cs typeface="Calibri" pitchFamily="34" charset="-120"/>
              </a:rPr>
              <a:t>tipuricont</a:t>
            </a:r>
            <a:endParaRPr lang="en-US" sz="1200" dirty="0"/>
          </a:p>
        </p:txBody>
      </p:sp>
      <p:sp>
        <p:nvSpPr>
          <p:cNvPr id="23" name="Text 21"/>
          <p:cNvSpPr/>
          <p:nvPr/>
        </p:nvSpPr>
        <p:spPr>
          <a:xfrm>
            <a:off x="246888" y="3310128"/>
            <a:ext cx="1920240" cy="1353312"/>
          </a:xfrm>
          <a:prstGeom prst="rect">
            <a:avLst/>
          </a:prstGeom>
          <a:noFill/>
          <a:ln/>
        </p:spPr>
        <p:txBody>
          <a:bodyPr wrap="square" lIns="0" tIns="0" rIns="0" bIns="0" rtlCol="0" anchor="t"/>
          <a:lstStyle/>
          <a:p>
            <a:r>
              <a:rPr lang="ro-RO" sz="900">
                <a:solidFill>
                  <a:schemeClr val="bg1"/>
                </a:solidFill>
              </a:rPr>
              <a:t>  `id_tip_cont` int(11) NOT NULL,</a:t>
            </a:r>
          </a:p>
          <a:p>
            <a:r>
              <a:rPr lang="ro-RO" sz="900">
                <a:solidFill>
                  <a:schemeClr val="bg1"/>
                </a:solidFill>
              </a:rPr>
              <a:t>  `nume_produs` varchar(100) NOT NULL,</a:t>
            </a:r>
          </a:p>
          <a:p>
            <a:r>
              <a:rPr lang="ro-RO" sz="900">
                <a:solidFill>
                  <a:schemeClr val="bg1"/>
                </a:solidFill>
              </a:rPr>
              <a:t>  `tip_client` enum('PF','PJ') NOT NULL,</a:t>
            </a:r>
          </a:p>
          <a:p>
            <a:r>
              <a:rPr lang="ro-RO" sz="900">
                <a:solidFill>
                  <a:schemeClr val="bg1"/>
                </a:solidFill>
              </a:rPr>
              <a:t>  `taxa_administrare` decimal(10,2) DEFAULT 0.00,</a:t>
            </a:r>
          </a:p>
          <a:p>
            <a:r>
              <a:rPr lang="ro-RO" sz="900">
                <a:solidFill>
                  <a:schemeClr val="bg1"/>
                </a:solidFill>
              </a:rPr>
              <a:t>  `moneda` char(3) NOT NULL DEFAULT 'RON',</a:t>
            </a:r>
          </a:p>
          <a:p>
            <a:r>
              <a:rPr lang="ro-RO" sz="900">
                <a:solidFill>
                  <a:schemeClr val="bg1"/>
                </a:solidFill>
              </a:rPr>
              <a:t>  `descriere` text DEFAULT NULL</a:t>
            </a:r>
          </a:p>
        </p:txBody>
      </p:sp>
      <p:sp>
        <p:nvSpPr>
          <p:cNvPr id="24" name="Shape 22"/>
          <p:cNvSpPr/>
          <p:nvPr/>
        </p:nvSpPr>
        <p:spPr>
          <a:xfrm>
            <a:off x="2395728" y="2926080"/>
            <a:ext cx="2057400" cy="1783080"/>
          </a:xfrm>
          <a:prstGeom prst="rect">
            <a:avLst/>
          </a:prstGeom>
          <a:solidFill>
            <a:srgbClr val="112240"/>
          </a:solidFill>
          <a:ln w="12700">
            <a:solidFill>
              <a:srgbClr val="112240"/>
            </a:solidFill>
            <a:prstDash val="solid"/>
          </a:ln>
        </p:spPr>
        <p:txBody>
          <a:bodyPr/>
          <a:lstStyle/>
          <a:p>
            <a:endParaRPr lang="ro-RO"/>
          </a:p>
        </p:txBody>
      </p:sp>
      <p:sp>
        <p:nvSpPr>
          <p:cNvPr id="25" name="Shape 23"/>
          <p:cNvSpPr/>
          <p:nvPr/>
        </p:nvSpPr>
        <p:spPr>
          <a:xfrm>
            <a:off x="2395728" y="2926080"/>
            <a:ext cx="2057400" cy="347472"/>
          </a:xfrm>
          <a:prstGeom prst="rect">
            <a:avLst/>
          </a:prstGeom>
          <a:solidFill>
            <a:srgbClr val="C9A84C"/>
          </a:solidFill>
          <a:ln w="12700">
            <a:solidFill>
              <a:srgbClr val="C9A84C"/>
            </a:solidFill>
            <a:prstDash val="solid"/>
          </a:ln>
        </p:spPr>
        <p:txBody>
          <a:bodyPr/>
          <a:lstStyle/>
          <a:p>
            <a:endParaRPr lang="ro-RO"/>
          </a:p>
        </p:txBody>
      </p:sp>
      <p:sp>
        <p:nvSpPr>
          <p:cNvPr id="26" name="Text 24"/>
          <p:cNvSpPr/>
          <p:nvPr/>
        </p:nvSpPr>
        <p:spPr>
          <a:xfrm>
            <a:off x="2395728" y="2926080"/>
            <a:ext cx="2057400" cy="347472"/>
          </a:xfrm>
          <a:prstGeom prst="rect">
            <a:avLst/>
          </a:prstGeom>
          <a:noFill/>
          <a:ln/>
        </p:spPr>
        <p:txBody>
          <a:bodyPr wrap="square" lIns="0" tIns="0" rIns="0" bIns="0" rtlCol="0" anchor="ctr"/>
          <a:lstStyle/>
          <a:p>
            <a:pPr marL="0" indent="0" algn="ctr">
              <a:buNone/>
            </a:pPr>
            <a:r>
              <a:rPr lang="en-US" sz="1200" b="1" dirty="0">
                <a:solidFill>
                  <a:srgbClr val="0A1628"/>
                </a:solidFill>
                <a:latin typeface="Calibri" pitchFamily="34" charset="0"/>
                <a:ea typeface="Calibri" pitchFamily="34" charset="-122"/>
                <a:cs typeface="Calibri" pitchFamily="34" charset="-120"/>
              </a:rPr>
              <a:t>tranzactii</a:t>
            </a:r>
            <a:endParaRPr lang="en-US" sz="1200" dirty="0"/>
          </a:p>
        </p:txBody>
      </p:sp>
      <p:sp>
        <p:nvSpPr>
          <p:cNvPr id="27" name="Text 25"/>
          <p:cNvSpPr/>
          <p:nvPr/>
        </p:nvSpPr>
        <p:spPr>
          <a:xfrm>
            <a:off x="2459736" y="3310128"/>
            <a:ext cx="1920240" cy="1353312"/>
          </a:xfrm>
          <a:prstGeom prst="rect">
            <a:avLst/>
          </a:prstGeom>
          <a:noFill/>
          <a:ln/>
        </p:spPr>
        <p:txBody>
          <a:bodyPr wrap="square" lIns="0" tIns="0" rIns="0" bIns="0" rtlCol="0" anchor="t"/>
          <a:lstStyle/>
          <a:p>
            <a:r>
              <a:rPr lang="ro-RO" sz="800">
                <a:solidFill>
                  <a:schemeClr val="bg1"/>
                </a:solidFill>
              </a:rPr>
              <a:t>  `id_tranzactie` int(11) NOT NULL,</a:t>
            </a:r>
          </a:p>
          <a:p>
            <a:r>
              <a:rPr lang="ro-RO" sz="800">
                <a:solidFill>
                  <a:schemeClr val="bg1"/>
                </a:solidFill>
              </a:rPr>
              <a:t>  `id_cont` int(11) NOT NULL,</a:t>
            </a:r>
          </a:p>
          <a:p>
            <a:r>
              <a:rPr lang="ro-RO" sz="800">
                <a:solidFill>
                  <a:schemeClr val="bg1"/>
                </a:solidFill>
              </a:rPr>
              <a:t>  `tip_tranzactie` enum('Intrare','Iesire') NOT NULL,</a:t>
            </a:r>
          </a:p>
          <a:p>
            <a:r>
              <a:rPr lang="ro-RO" sz="800">
                <a:solidFill>
                  <a:schemeClr val="bg1"/>
                </a:solidFill>
              </a:rPr>
              <a:t>  `suma` decimal(15,2) NOT NULL,</a:t>
            </a:r>
          </a:p>
          <a:p>
            <a:r>
              <a:rPr lang="ro-RO" sz="800">
                <a:solidFill>
                  <a:schemeClr val="bg1"/>
                </a:solidFill>
              </a:rPr>
              <a:t>  `iban_partener` varchar(34) DEFAULT NULL,</a:t>
            </a:r>
          </a:p>
          <a:p>
            <a:r>
              <a:rPr lang="ro-RO" sz="800">
                <a:solidFill>
                  <a:schemeClr val="bg1"/>
                </a:solidFill>
              </a:rPr>
              <a:t>  `motiv_plata` varchar(255) DEFAULT NULL,</a:t>
            </a:r>
          </a:p>
          <a:p>
            <a:r>
              <a:rPr lang="ro-RO" sz="800">
                <a:solidFill>
                  <a:schemeClr val="bg1"/>
                </a:solidFill>
              </a:rPr>
              <a:t>  `data_tranzactie` timestamp NOT NULL DEFAULT current_timestamp()</a:t>
            </a:r>
          </a:p>
        </p:txBody>
      </p:sp>
      <p:sp>
        <p:nvSpPr>
          <p:cNvPr id="28" name="Shape 26"/>
          <p:cNvSpPr/>
          <p:nvPr/>
        </p:nvSpPr>
        <p:spPr>
          <a:xfrm>
            <a:off x="4608576" y="2926080"/>
            <a:ext cx="2057400" cy="1783080"/>
          </a:xfrm>
          <a:prstGeom prst="rect">
            <a:avLst/>
          </a:prstGeom>
          <a:solidFill>
            <a:srgbClr val="112240"/>
          </a:solidFill>
          <a:ln w="12700">
            <a:solidFill>
              <a:srgbClr val="112240"/>
            </a:solidFill>
            <a:prstDash val="solid"/>
          </a:ln>
        </p:spPr>
        <p:txBody>
          <a:bodyPr/>
          <a:lstStyle/>
          <a:p>
            <a:endParaRPr lang="ro-RO"/>
          </a:p>
        </p:txBody>
      </p:sp>
      <p:sp>
        <p:nvSpPr>
          <p:cNvPr id="29" name="Shape 27"/>
          <p:cNvSpPr/>
          <p:nvPr/>
        </p:nvSpPr>
        <p:spPr>
          <a:xfrm>
            <a:off x="4608576" y="2926080"/>
            <a:ext cx="2057400" cy="347472"/>
          </a:xfrm>
          <a:prstGeom prst="rect">
            <a:avLst/>
          </a:prstGeom>
          <a:solidFill>
            <a:srgbClr val="C9A84C"/>
          </a:solidFill>
          <a:ln w="12700">
            <a:solidFill>
              <a:srgbClr val="C9A84C"/>
            </a:solidFill>
            <a:prstDash val="solid"/>
          </a:ln>
        </p:spPr>
        <p:txBody>
          <a:bodyPr/>
          <a:lstStyle/>
          <a:p>
            <a:endParaRPr lang="ro-RO"/>
          </a:p>
        </p:txBody>
      </p:sp>
      <p:sp>
        <p:nvSpPr>
          <p:cNvPr id="30" name="Text 28"/>
          <p:cNvSpPr/>
          <p:nvPr/>
        </p:nvSpPr>
        <p:spPr>
          <a:xfrm>
            <a:off x="4608576" y="2926080"/>
            <a:ext cx="2057400" cy="347472"/>
          </a:xfrm>
          <a:prstGeom prst="rect">
            <a:avLst/>
          </a:prstGeom>
          <a:noFill/>
          <a:ln/>
        </p:spPr>
        <p:txBody>
          <a:bodyPr wrap="square" lIns="0" tIns="0" rIns="0" bIns="0" rtlCol="0" anchor="ctr"/>
          <a:lstStyle/>
          <a:p>
            <a:pPr marL="0" indent="0" algn="ctr">
              <a:buNone/>
            </a:pPr>
            <a:r>
              <a:rPr lang="en-US" sz="1200" b="1" dirty="0">
                <a:solidFill>
                  <a:srgbClr val="0A1628"/>
                </a:solidFill>
                <a:latin typeface="Calibri" pitchFamily="34" charset="0"/>
                <a:ea typeface="Calibri" pitchFamily="34" charset="-122"/>
                <a:cs typeface="Calibri" pitchFamily="34" charset="-120"/>
              </a:rPr>
              <a:t>transferuri</a:t>
            </a:r>
            <a:endParaRPr lang="en-US" sz="1200" dirty="0"/>
          </a:p>
        </p:txBody>
      </p:sp>
      <p:sp>
        <p:nvSpPr>
          <p:cNvPr id="31" name="Text 29"/>
          <p:cNvSpPr/>
          <p:nvPr/>
        </p:nvSpPr>
        <p:spPr>
          <a:xfrm>
            <a:off x="4672584" y="3310128"/>
            <a:ext cx="1920240" cy="1353312"/>
          </a:xfrm>
          <a:prstGeom prst="rect">
            <a:avLst/>
          </a:prstGeom>
          <a:noFill/>
          <a:ln/>
        </p:spPr>
        <p:txBody>
          <a:bodyPr wrap="square" lIns="0" tIns="0" rIns="0" bIns="0" rtlCol="0" anchor="t"/>
          <a:lstStyle/>
          <a:p>
            <a:r>
              <a:rPr lang="ro-RO" sz="900">
                <a:solidFill>
                  <a:schemeClr val="bg1"/>
                </a:solidFill>
              </a:rPr>
              <a:t>  `id_transfer` int(11) NOT NULL,</a:t>
            </a:r>
          </a:p>
          <a:p>
            <a:r>
              <a:rPr lang="ro-RO" sz="900">
                <a:solidFill>
                  <a:schemeClr val="bg1"/>
                </a:solidFill>
              </a:rPr>
              <a:t>  `id_cont_sursa` int(11) NOT NULL,</a:t>
            </a:r>
          </a:p>
          <a:p>
            <a:r>
              <a:rPr lang="ro-RO" sz="900">
                <a:solidFill>
                  <a:schemeClr val="bg1"/>
                </a:solidFill>
              </a:rPr>
              <a:t>  `id_cont_destinatie` int(11) NOT NULL,</a:t>
            </a:r>
          </a:p>
          <a:p>
            <a:r>
              <a:rPr lang="ro-RO" sz="900">
                <a:solidFill>
                  <a:schemeClr val="bg1"/>
                </a:solidFill>
              </a:rPr>
              <a:t>  `suma` decimal(15,2) NOT NULL,</a:t>
            </a:r>
          </a:p>
          <a:p>
            <a:r>
              <a:rPr lang="ro-RO" sz="900">
                <a:solidFill>
                  <a:schemeClr val="bg1"/>
                </a:solidFill>
              </a:rPr>
              <a:t>  `mesaj_detaliu` varchar(255) DEFAULT NULL,</a:t>
            </a:r>
          </a:p>
          <a:p>
            <a:r>
              <a:rPr lang="ro-RO" sz="900">
                <a:solidFill>
                  <a:schemeClr val="bg1"/>
                </a:solidFill>
              </a:rPr>
              <a:t>  `data_transfer` timestamp NOT NULL DEFAULT current_timestamp()</a:t>
            </a:r>
          </a:p>
        </p:txBody>
      </p:sp>
      <p:sp>
        <p:nvSpPr>
          <p:cNvPr id="32" name="Shape 30"/>
          <p:cNvSpPr/>
          <p:nvPr/>
        </p:nvSpPr>
        <p:spPr>
          <a:xfrm>
            <a:off x="6821424" y="2926080"/>
            <a:ext cx="2057400" cy="1783080"/>
          </a:xfrm>
          <a:prstGeom prst="rect">
            <a:avLst/>
          </a:prstGeom>
          <a:solidFill>
            <a:srgbClr val="112240"/>
          </a:solidFill>
          <a:ln w="12700">
            <a:solidFill>
              <a:srgbClr val="112240"/>
            </a:solidFill>
            <a:prstDash val="solid"/>
          </a:ln>
        </p:spPr>
        <p:txBody>
          <a:bodyPr/>
          <a:lstStyle/>
          <a:p>
            <a:endParaRPr lang="ro-RO"/>
          </a:p>
        </p:txBody>
      </p:sp>
      <p:sp>
        <p:nvSpPr>
          <p:cNvPr id="33" name="Shape 31"/>
          <p:cNvSpPr/>
          <p:nvPr/>
        </p:nvSpPr>
        <p:spPr>
          <a:xfrm>
            <a:off x="6821424" y="2926080"/>
            <a:ext cx="2057400" cy="347472"/>
          </a:xfrm>
          <a:prstGeom prst="rect">
            <a:avLst/>
          </a:prstGeom>
          <a:solidFill>
            <a:srgbClr val="C9A84C"/>
          </a:solidFill>
          <a:ln w="12700">
            <a:solidFill>
              <a:srgbClr val="C9A84C"/>
            </a:solidFill>
            <a:prstDash val="solid"/>
          </a:ln>
        </p:spPr>
        <p:txBody>
          <a:bodyPr/>
          <a:lstStyle/>
          <a:p>
            <a:endParaRPr lang="ro-RO"/>
          </a:p>
        </p:txBody>
      </p:sp>
      <p:sp>
        <p:nvSpPr>
          <p:cNvPr id="34" name="Text 32"/>
          <p:cNvSpPr/>
          <p:nvPr/>
        </p:nvSpPr>
        <p:spPr>
          <a:xfrm>
            <a:off x="6821424" y="2926080"/>
            <a:ext cx="2057400" cy="347472"/>
          </a:xfrm>
          <a:prstGeom prst="rect">
            <a:avLst/>
          </a:prstGeom>
          <a:noFill/>
          <a:ln/>
        </p:spPr>
        <p:txBody>
          <a:bodyPr wrap="square" lIns="0" tIns="0" rIns="0" bIns="0" rtlCol="0" anchor="ctr"/>
          <a:lstStyle/>
          <a:p>
            <a:pPr marL="0" indent="0" algn="ctr">
              <a:buNone/>
            </a:pPr>
            <a:r>
              <a:rPr lang="en-US" sz="1200" b="1" dirty="0">
                <a:solidFill>
                  <a:srgbClr val="0A1628"/>
                </a:solidFill>
                <a:latin typeface="Calibri" pitchFamily="34" charset="0"/>
                <a:ea typeface="Calibri" pitchFamily="34" charset="-122"/>
                <a:cs typeface="Calibri" pitchFamily="34" charset="-120"/>
              </a:rPr>
              <a:t>beneficiari</a:t>
            </a:r>
            <a:endParaRPr lang="en-US" sz="1200" dirty="0"/>
          </a:p>
        </p:txBody>
      </p:sp>
      <p:sp>
        <p:nvSpPr>
          <p:cNvPr id="35" name="Text 33"/>
          <p:cNvSpPr/>
          <p:nvPr/>
        </p:nvSpPr>
        <p:spPr>
          <a:xfrm>
            <a:off x="6885432" y="3310128"/>
            <a:ext cx="1920240" cy="1353312"/>
          </a:xfrm>
          <a:prstGeom prst="rect">
            <a:avLst/>
          </a:prstGeom>
          <a:noFill/>
          <a:ln/>
        </p:spPr>
        <p:txBody>
          <a:bodyPr wrap="square" lIns="0" tIns="0" rIns="0" bIns="0" rtlCol="0" anchor="t"/>
          <a:lstStyle/>
          <a:p>
            <a:r>
              <a:rPr lang="en-US" sz="1100">
                <a:solidFill>
                  <a:schemeClr val="bg1"/>
                </a:solidFill>
              </a:rPr>
              <a:t>  `id_beneficiar` int(11) NOT NULL,</a:t>
            </a:r>
          </a:p>
          <a:p>
            <a:r>
              <a:rPr lang="en-US" sz="1100">
                <a:solidFill>
                  <a:schemeClr val="bg1"/>
                </a:solidFill>
              </a:rPr>
              <a:t>  `id_client` int(11) NOT NULL,</a:t>
            </a:r>
          </a:p>
          <a:p>
            <a:r>
              <a:rPr lang="en-US" sz="1100">
                <a:solidFill>
                  <a:schemeClr val="bg1"/>
                </a:solidFill>
              </a:rPr>
              <a:t>  `nume_beneficiar` varchar(100) NOT NULL,</a:t>
            </a:r>
          </a:p>
          <a:p>
            <a:r>
              <a:rPr lang="en-US" sz="1100">
                <a:solidFill>
                  <a:schemeClr val="bg1"/>
                </a:solidFill>
              </a:rPr>
              <a:t>  `iban_beneficiar` varchar(24) NOT NULL</a:t>
            </a:r>
          </a:p>
        </p:txBody>
      </p:sp>
      <p:sp>
        <p:nvSpPr>
          <p:cNvPr id="36" name="Text 34"/>
          <p:cNvSpPr/>
          <p:nvPr/>
        </p:nvSpPr>
        <p:spPr>
          <a:xfrm>
            <a:off x="274320" y="4828032"/>
            <a:ext cx="8595360" cy="228600"/>
          </a:xfrm>
          <a:prstGeom prst="rect">
            <a:avLst/>
          </a:prstGeom>
          <a:noFill/>
          <a:ln/>
        </p:spPr>
        <p:txBody>
          <a:bodyPr wrap="square" lIns="0" tIns="0" rIns="0" bIns="0" rtlCol="0" anchor="ctr"/>
          <a:lstStyle/>
          <a:p>
            <a:pPr marL="0" indent="0" algn="l">
              <a:buNone/>
            </a:pPr>
            <a:r>
              <a:rPr lang="en-US" sz="1000" i="1" dirty="0">
                <a:solidFill>
                  <a:srgbClr val="8FA3BF"/>
                </a:solidFill>
                <a:latin typeface="Calibri" pitchFamily="34" charset="0"/>
                <a:ea typeface="Calibri" pitchFamily="34" charset="-122"/>
                <a:cs typeface="Calibri" pitchFamily="34" charset="-120"/>
              </a:rPr>
              <a:t>+ audit_solduri  •  extrasecont  •  notificari  •  config_currencies  •  admini</a:t>
            </a:r>
            <a:endParaRPr lang="en-US" sz="1000" dirty="0"/>
          </a:p>
        </p:txBody>
      </p:sp>
      <p:sp>
        <p:nvSpPr>
          <p:cNvPr id="37" name="Shape 35"/>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ro-RO"/>
          </a:p>
        </p:txBody>
      </p:sp>
      <p:sp>
        <p:nvSpPr>
          <p:cNvPr id="38" name="Text 36"/>
          <p:cNvSpPr/>
          <p:nvPr/>
        </p:nvSpPr>
        <p:spPr>
          <a:xfrm>
            <a:off x="274320" y="4892040"/>
            <a:ext cx="8595360" cy="251460"/>
          </a:xfrm>
          <a:prstGeom prst="rect">
            <a:avLst/>
          </a:prstGeom>
          <a:noFill/>
          <a:ln/>
        </p:spPr>
        <p:txBody>
          <a:bodyPr wrap="square" lIns="0" tIns="0" rIns="0" bIns="0" rtlCol="0" anchor="ctr"/>
          <a:lstStyle/>
          <a:p>
            <a:pPr marL="0" indent="0">
              <a:buNone/>
            </a:pPr>
            <a:r>
              <a:rPr lang="en-US" sz="1000" dirty="0">
                <a:solidFill>
                  <a:srgbClr val="8FA3BF"/>
                </a:solidFill>
                <a:latin typeface="Calibri" pitchFamily="34" charset="0"/>
                <a:ea typeface="Calibri" pitchFamily="34" charset="-122"/>
                <a:cs typeface="Calibri" pitchFamily="34" charset="-120"/>
              </a:rPr>
              <a:t>Proiect 9 — Sistem Bancar Simplificat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6" name="Shape 19">
            <a:extLst>
              <a:ext uri="{FF2B5EF4-FFF2-40B4-BE49-F238E27FC236}">
                <a16:creationId xmlns:a16="http://schemas.microsoft.com/office/drawing/2014/main" id="{F4D0240C-5052-DDDB-5245-50450780109D}"/>
              </a:ext>
            </a:extLst>
          </p:cNvPr>
          <p:cNvSpPr/>
          <p:nvPr/>
        </p:nvSpPr>
        <p:spPr>
          <a:xfrm>
            <a:off x="274319" y="1325880"/>
            <a:ext cx="5175969" cy="3383280"/>
          </a:xfrm>
          <a:prstGeom prst="rect">
            <a:avLst/>
          </a:prstGeom>
          <a:solidFill>
            <a:srgbClr val="E8EDF5"/>
          </a:solidFill>
          <a:ln w="12700">
            <a:solidFill>
              <a:srgbClr val="E8EDF5"/>
            </a:solidFill>
            <a:prstDash val="solid"/>
          </a:ln>
        </p:spPr>
        <p:txBody>
          <a:bodyPr/>
          <a:lstStyle/>
          <a:p>
            <a:endParaRPr lang="ro-RO"/>
          </a:p>
        </p:txBody>
      </p:sp>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ro-RO"/>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Rela</a:t>
            </a:r>
            <a:r>
              <a:rPr lang="ro-RO" sz="2600" b="1">
                <a:solidFill>
                  <a:srgbClr val="FFFFFF"/>
                </a:solidFill>
                <a:latin typeface="Calibri" pitchFamily="34" charset="0"/>
                <a:ea typeface="Calibri" pitchFamily="34" charset="-122"/>
                <a:cs typeface="Calibri" pitchFamily="34" charset="-120"/>
              </a:rPr>
              <a:t>țiile </a:t>
            </a:r>
            <a:r>
              <a:rPr lang="en-US" sz="2600" b="1">
                <a:solidFill>
                  <a:srgbClr val="FFFFFF"/>
                </a:solidFill>
                <a:latin typeface="Calibri" pitchFamily="34" charset="0"/>
                <a:ea typeface="Calibri" pitchFamily="34" charset="-122"/>
                <a:cs typeface="Calibri" pitchFamily="34" charset="-120"/>
              </a:rPr>
              <a:t>&amp; Normalizare</a:t>
            </a:r>
            <a:r>
              <a:rPr lang="ro-RO" sz="2600" b="1">
                <a:solidFill>
                  <a:srgbClr val="FFFFFF"/>
                </a:solidFill>
                <a:latin typeface="Calibri" pitchFamily="34" charset="0"/>
                <a:ea typeface="Calibri" pitchFamily="34" charset="-122"/>
                <a:cs typeface="Calibri" pitchFamily="34" charset="-120"/>
              </a:rPr>
              <a:t>a</a:t>
            </a:r>
            <a:endParaRPr lang="en-US" sz="2600" dirty="0"/>
          </a:p>
        </p:txBody>
      </p:sp>
      <p:sp>
        <p:nvSpPr>
          <p:cNvPr id="4" name="Text 2"/>
          <p:cNvSpPr/>
          <p:nvPr/>
        </p:nvSpPr>
        <p:spPr>
          <a:xfrm>
            <a:off x="320040" y="960120"/>
            <a:ext cx="5029200" cy="365760"/>
          </a:xfrm>
          <a:prstGeom prst="rect">
            <a:avLst/>
          </a:prstGeom>
          <a:noFill/>
          <a:ln/>
        </p:spPr>
        <p:txBody>
          <a:bodyPr wrap="square" lIns="0" tIns="0" rIns="0" bIns="0" rtlCol="0" anchor="ctr"/>
          <a:lstStyle/>
          <a:p>
            <a:pPr marL="0" indent="0">
              <a:buNone/>
            </a:pPr>
            <a:r>
              <a:rPr lang="en-US" sz="1600" b="1">
                <a:solidFill>
                  <a:srgbClr val="0A1628"/>
                </a:solidFill>
                <a:latin typeface="Calibri" pitchFamily="34" charset="0"/>
                <a:ea typeface="Calibri" pitchFamily="34" charset="-122"/>
                <a:cs typeface="Calibri" pitchFamily="34" charset="-120"/>
              </a:rPr>
              <a:t>Relații </a:t>
            </a:r>
            <a:r>
              <a:rPr lang="ro-RO" sz="1600" b="1">
                <a:solidFill>
                  <a:srgbClr val="0A1628"/>
                </a:solidFill>
                <a:latin typeface="Calibri" pitchFamily="34" charset="0"/>
                <a:ea typeface="Calibri" pitchFamily="34" charset="-122"/>
                <a:cs typeface="Calibri" pitchFamily="34" charset="-120"/>
              </a:rPr>
              <a:t>între </a:t>
            </a:r>
            <a:r>
              <a:rPr lang="en-US" sz="1600" b="1">
                <a:solidFill>
                  <a:srgbClr val="0A1628"/>
                </a:solidFill>
                <a:latin typeface="Calibri" pitchFamily="34" charset="0"/>
                <a:ea typeface="Calibri" pitchFamily="34" charset="-122"/>
                <a:cs typeface="Calibri" pitchFamily="34" charset="-120"/>
              </a:rPr>
              <a:t>E</a:t>
            </a:r>
            <a:r>
              <a:rPr lang="ro-RO" sz="1600" b="1">
                <a:solidFill>
                  <a:srgbClr val="0A1628"/>
                </a:solidFill>
                <a:latin typeface="Calibri" pitchFamily="34" charset="0"/>
                <a:ea typeface="Calibri" pitchFamily="34" charset="-122"/>
                <a:cs typeface="Calibri" pitchFamily="34" charset="-120"/>
              </a:rPr>
              <a:t>ntități</a:t>
            </a:r>
            <a:endParaRPr lang="en-US" sz="1600" dirty="0"/>
          </a:p>
        </p:txBody>
      </p:sp>
      <p:sp>
        <p:nvSpPr>
          <p:cNvPr id="21" name="Shape 19"/>
          <p:cNvSpPr/>
          <p:nvPr/>
        </p:nvSpPr>
        <p:spPr>
          <a:xfrm>
            <a:off x="5577840" y="1325880"/>
            <a:ext cx="3291840" cy="3383280"/>
          </a:xfrm>
          <a:prstGeom prst="rect">
            <a:avLst/>
          </a:prstGeom>
          <a:solidFill>
            <a:srgbClr val="E8EDF5"/>
          </a:solidFill>
          <a:ln w="12700">
            <a:solidFill>
              <a:srgbClr val="E8EDF5"/>
            </a:solidFill>
            <a:prstDash val="solid"/>
          </a:ln>
        </p:spPr>
        <p:txBody>
          <a:bodyPr/>
          <a:lstStyle/>
          <a:p>
            <a:endParaRPr lang="ro-RO"/>
          </a:p>
        </p:txBody>
      </p:sp>
      <p:sp>
        <p:nvSpPr>
          <p:cNvPr id="22" name="Text 20"/>
          <p:cNvSpPr/>
          <p:nvPr/>
        </p:nvSpPr>
        <p:spPr>
          <a:xfrm>
            <a:off x="5669280" y="960120"/>
            <a:ext cx="3108960" cy="365760"/>
          </a:xfrm>
          <a:prstGeom prst="rect">
            <a:avLst/>
          </a:prstGeom>
          <a:noFill/>
          <a:ln/>
        </p:spPr>
        <p:txBody>
          <a:bodyPr wrap="square" lIns="0" tIns="0" rIns="0" bIns="0" rtlCol="0" anchor="ctr"/>
          <a:lstStyle/>
          <a:p>
            <a:pPr marL="0" indent="0">
              <a:buNone/>
            </a:pPr>
            <a:r>
              <a:rPr lang="en-US" sz="1600" b="1" dirty="0">
                <a:solidFill>
                  <a:srgbClr val="0A1628"/>
                </a:solidFill>
                <a:latin typeface="Calibri" pitchFamily="34" charset="0"/>
                <a:ea typeface="Calibri" pitchFamily="34" charset="-122"/>
                <a:cs typeface="Calibri" pitchFamily="34" charset="-120"/>
              </a:rPr>
              <a:t>Normalizare</a:t>
            </a:r>
            <a:endParaRPr lang="en-US" sz="1600" dirty="0"/>
          </a:p>
        </p:txBody>
      </p:sp>
      <p:sp>
        <p:nvSpPr>
          <p:cNvPr id="23" name="Shape 21"/>
          <p:cNvSpPr/>
          <p:nvPr/>
        </p:nvSpPr>
        <p:spPr>
          <a:xfrm>
            <a:off x="5669280" y="1417320"/>
            <a:ext cx="502920" cy="320040"/>
          </a:xfrm>
          <a:prstGeom prst="rect">
            <a:avLst/>
          </a:prstGeom>
          <a:solidFill>
            <a:srgbClr val="0A1628"/>
          </a:solidFill>
          <a:ln w="12700">
            <a:solidFill>
              <a:srgbClr val="0A1628"/>
            </a:solidFill>
            <a:prstDash val="solid"/>
          </a:ln>
        </p:spPr>
        <p:txBody>
          <a:bodyPr/>
          <a:lstStyle/>
          <a:p>
            <a:endParaRPr lang="ro-RO"/>
          </a:p>
        </p:txBody>
      </p:sp>
      <p:sp>
        <p:nvSpPr>
          <p:cNvPr id="24" name="Text 22"/>
          <p:cNvSpPr/>
          <p:nvPr/>
        </p:nvSpPr>
        <p:spPr>
          <a:xfrm>
            <a:off x="5669280" y="1417320"/>
            <a:ext cx="502920" cy="320040"/>
          </a:xfrm>
          <a:prstGeom prst="rect">
            <a:avLst/>
          </a:prstGeom>
          <a:noFill/>
          <a:ln/>
        </p:spPr>
        <p:txBody>
          <a:bodyPr wrap="square" lIns="0" tIns="0" rIns="0" bIns="0" rtlCol="0" anchor="ctr"/>
          <a:lstStyle/>
          <a:p>
            <a:pPr marL="0" indent="0" algn="ctr">
              <a:buNone/>
            </a:pPr>
            <a:r>
              <a:rPr lang="en-US" sz="1200" b="1" dirty="0">
                <a:solidFill>
                  <a:srgbClr val="C9A84C"/>
                </a:solidFill>
                <a:latin typeface="Calibri" pitchFamily="34" charset="0"/>
                <a:ea typeface="Calibri" pitchFamily="34" charset="-122"/>
                <a:cs typeface="Calibri" pitchFamily="34" charset="-120"/>
              </a:rPr>
              <a:t>1NF</a:t>
            </a:r>
            <a:endParaRPr lang="en-US" sz="1200" dirty="0"/>
          </a:p>
        </p:txBody>
      </p:sp>
      <p:sp>
        <p:nvSpPr>
          <p:cNvPr id="25" name="Text 23"/>
          <p:cNvSpPr/>
          <p:nvPr/>
        </p:nvSpPr>
        <p:spPr>
          <a:xfrm>
            <a:off x="6263640" y="1417320"/>
            <a:ext cx="2560320" cy="914400"/>
          </a:xfrm>
          <a:prstGeom prst="rect">
            <a:avLst/>
          </a:prstGeom>
          <a:noFill/>
          <a:ln/>
        </p:spPr>
        <p:txBody>
          <a:bodyPr wrap="square" lIns="0" tIns="0" rIns="0" bIns="0" rtlCol="0" anchor="t"/>
          <a:lstStyle/>
          <a:p>
            <a:pPr marL="0" indent="0" algn="l">
              <a:buNone/>
            </a:pPr>
            <a:r>
              <a:rPr lang="en-US" sz="1050" dirty="0">
                <a:solidFill>
                  <a:srgbClr val="0A1628"/>
                </a:solidFill>
                <a:latin typeface="Calibri" pitchFamily="34" charset="0"/>
                <a:ea typeface="Calibri" pitchFamily="34" charset="-122"/>
                <a:cs typeface="Calibri" pitchFamily="34" charset="-120"/>
              </a:rPr>
              <a:t>Toate atributele sunt atomice. Nu există grupuri repetitive. CNP, IBAN, email sunt câmpuri simple, nu liste.</a:t>
            </a:r>
            <a:endParaRPr lang="en-US" sz="1050" dirty="0"/>
          </a:p>
        </p:txBody>
      </p:sp>
      <p:sp>
        <p:nvSpPr>
          <p:cNvPr id="26" name="Shape 24"/>
          <p:cNvSpPr/>
          <p:nvPr/>
        </p:nvSpPr>
        <p:spPr>
          <a:xfrm>
            <a:off x="5669280" y="2468880"/>
            <a:ext cx="502920" cy="320040"/>
          </a:xfrm>
          <a:prstGeom prst="rect">
            <a:avLst/>
          </a:prstGeom>
          <a:solidFill>
            <a:srgbClr val="0A1628"/>
          </a:solidFill>
          <a:ln w="12700">
            <a:solidFill>
              <a:srgbClr val="0A1628"/>
            </a:solidFill>
            <a:prstDash val="solid"/>
          </a:ln>
        </p:spPr>
        <p:txBody>
          <a:bodyPr/>
          <a:lstStyle/>
          <a:p>
            <a:endParaRPr lang="ro-RO"/>
          </a:p>
        </p:txBody>
      </p:sp>
      <p:sp>
        <p:nvSpPr>
          <p:cNvPr id="27" name="Text 25"/>
          <p:cNvSpPr/>
          <p:nvPr/>
        </p:nvSpPr>
        <p:spPr>
          <a:xfrm>
            <a:off x="5669280" y="2468880"/>
            <a:ext cx="502920" cy="320040"/>
          </a:xfrm>
          <a:prstGeom prst="rect">
            <a:avLst/>
          </a:prstGeom>
          <a:noFill/>
          <a:ln/>
        </p:spPr>
        <p:txBody>
          <a:bodyPr wrap="square" lIns="0" tIns="0" rIns="0" bIns="0" rtlCol="0" anchor="ctr"/>
          <a:lstStyle/>
          <a:p>
            <a:pPr marL="0" indent="0" algn="ctr">
              <a:buNone/>
            </a:pPr>
            <a:r>
              <a:rPr lang="en-US" sz="1200" b="1" dirty="0">
                <a:solidFill>
                  <a:srgbClr val="C9A84C"/>
                </a:solidFill>
                <a:latin typeface="Calibri" pitchFamily="34" charset="0"/>
                <a:ea typeface="Calibri" pitchFamily="34" charset="-122"/>
                <a:cs typeface="Calibri" pitchFamily="34" charset="-120"/>
              </a:rPr>
              <a:t>2NF</a:t>
            </a:r>
            <a:endParaRPr lang="en-US" sz="1200" dirty="0"/>
          </a:p>
        </p:txBody>
      </p:sp>
      <p:sp>
        <p:nvSpPr>
          <p:cNvPr id="28" name="Text 26"/>
          <p:cNvSpPr/>
          <p:nvPr/>
        </p:nvSpPr>
        <p:spPr>
          <a:xfrm>
            <a:off x="6263640" y="2468880"/>
            <a:ext cx="2560320" cy="914400"/>
          </a:xfrm>
          <a:prstGeom prst="rect">
            <a:avLst/>
          </a:prstGeom>
          <a:noFill/>
          <a:ln/>
        </p:spPr>
        <p:txBody>
          <a:bodyPr wrap="square" lIns="0" tIns="0" rIns="0" bIns="0" rtlCol="0" anchor="t"/>
          <a:lstStyle/>
          <a:p>
            <a:pPr marL="0" indent="0" algn="l">
              <a:buNone/>
            </a:pPr>
            <a:r>
              <a:rPr lang="en-US" sz="1050" dirty="0">
                <a:solidFill>
                  <a:srgbClr val="0A1628"/>
                </a:solidFill>
                <a:latin typeface="Calibri" pitchFamily="34" charset="0"/>
                <a:ea typeface="Calibri" pitchFamily="34" charset="-122"/>
                <a:cs typeface="Calibri" pitchFamily="34" charset="-120"/>
              </a:rPr>
              <a:t>Eliminarea dependențelor parțiale. detalii_pf și detalii_pj sunt tabele separate față de clienti, dependente doar de PK.</a:t>
            </a:r>
            <a:endParaRPr lang="en-US" sz="1050" dirty="0"/>
          </a:p>
        </p:txBody>
      </p:sp>
      <p:sp>
        <p:nvSpPr>
          <p:cNvPr id="29" name="Shape 27"/>
          <p:cNvSpPr/>
          <p:nvPr/>
        </p:nvSpPr>
        <p:spPr>
          <a:xfrm>
            <a:off x="5669280" y="3520440"/>
            <a:ext cx="502920" cy="320040"/>
          </a:xfrm>
          <a:prstGeom prst="rect">
            <a:avLst/>
          </a:prstGeom>
          <a:solidFill>
            <a:srgbClr val="0A1628"/>
          </a:solidFill>
          <a:ln w="12700">
            <a:solidFill>
              <a:srgbClr val="0A1628"/>
            </a:solidFill>
            <a:prstDash val="solid"/>
          </a:ln>
        </p:spPr>
        <p:txBody>
          <a:bodyPr/>
          <a:lstStyle/>
          <a:p>
            <a:endParaRPr lang="ro-RO"/>
          </a:p>
        </p:txBody>
      </p:sp>
      <p:sp>
        <p:nvSpPr>
          <p:cNvPr id="30" name="Text 28"/>
          <p:cNvSpPr/>
          <p:nvPr/>
        </p:nvSpPr>
        <p:spPr>
          <a:xfrm>
            <a:off x="5669280" y="3520440"/>
            <a:ext cx="502920" cy="320040"/>
          </a:xfrm>
          <a:prstGeom prst="rect">
            <a:avLst/>
          </a:prstGeom>
          <a:noFill/>
          <a:ln/>
        </p:spPr>
        <p:txBody>
          <a:bodyPr wrap="square" lIns="0" tIns="0" rIns="0" bIns="0" rtlCol="0" anchor="ctr"/>
          <a:lstStyle/>
          <a:p>
            <a:pPr marL="0" indent="0" algn="ctr">
              <a:buNone/>
            </a:pPr>
            <a:r>
              <a:rPr lang="en-US" sz="1200" b="1" dirty="0">
                <a:solidFill>
                  <a:srgbClr val="C9A84C"/>
                </a:solidFill>
                <a:latin typeface="Calibri" pitchFamily="34" charset="0"/>
                <a:ea typeface="Calibri" pitchFamily="34" charset="-122"/>
                <a:cs typeface="Calibri" pitchFamily="34" charset="-120"/>
              </a:rPr>
              <a:t>3NF</a:t>
            </a:r>
            <a:endParaRPr lang="en-US" sz="1200" dirty="0"/>
          </a:p>
        </p:txBody>
      </p:sp>
      <p:sp>
        <p:nvSpPr>
          <p:cNvPr id="31" name="Text 29"/>
          <p:cNvSpPr/>
          <p:nvPr/>
        </p:nvSpPr>
        <p:spPr>
          <a:xfrm>
            <a:off x="6263640" y="3520440"/>
            <a:ext cx="2560320" cy="914400"/>
          </a:xfrm>
          <a:prstGeom prst="rect">
            <a:avLst/>
          </a:prstGeom>
          <a:noFill/>
          <a:ln/>
        </p:spPr>
        <p:txBody>
          <a:bodyPr wrap="square" lIns="0" tIns="0" rIns="0" bIns="0" rtlCol="0" anchor="t"/>
          <a:lstStyle/>
          <a:p>
            <a:pPr marL="0" indent="0" algn="l">
              <a:buNone/>
            </a:pPr>
            <a:r>
              <a:rPr lang="en-US" sz="1050" dirty="0">
                <a:solidFill>
                  <a:srgbClr val="0A1628"/>
                </a:solidFill>
                <a:latin typeface="Calibri" pitchFamily="34" charset="0"/>
                <a:ea typeface="Calibri" pitchFamily="34" charset="-122"/>
                <a:cs typeface="Calibri" pitchFamily="34" charset="-120"/>
              </a:rPr>
              <a:t>Eliminarea dependențelor tranzitive. config_currencies separat față de conturi; tipuricont separat față de conturi.</a:t>
            </a:r>
            <a:endParaRPr lang="en-US" sz="1050" dirty="0"/>
          </a:p>
        </p:txBody>
      </p:sp>
      <p:sp>
        <p:nvSpPr>
          <p:cNvPr id="32" name="Shape 30"/>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ro-RO"/>
          </a:p>
        </p:txBody>
      </p:sp>
      <p:sp>
        <p:nvSpPr>
          <p:cNvPr id="33" name="Text 31"/>
          <p:cNvSpPr/>
          <p:nvPr/>
        </p:nvSpPr>
        <p:spPr>
          <a:xfrm>
            <a:off x="274320" y="4892040"/>
            <a:ext cx="8595360" cy="251460"/>
          </a:xfrm>
          <a:prstGeom prst="rect">
            <a:avLst/>
          </a:prstGeom>
          <a:noFill/>
          <a:ln/>
        </p:spPr>
        <p:txBody>
          <a:bodyPr wrap="square" lIns="0" tIns="0" rIns="0" bIns="0" rtlCol="0" anchor="ctr"/>
          <a:lstStyle/>
          <a:p>
            <a:pPr marL="0" indent="0">
              <a:buNone/>
            </a:pPr>
            <a:r>
              <a:rPr lang="en-US" sz="1000" dirty="0">
                <a:solidFill>
                  <a:srgbClr val="8FA3BF"/>
                </a:solidFill>
                <a:latin typeface="Calibri" pitchFamily="34" charset="0"/>
                <a:ea typeface="Calibri" pitchFamily="34" charset="-122"/>
                <a:cs typeface="Calibri" pitchFamily="34" charset="-120"/>
              </a:rPr>
              <a:t>Proiect 9 — Sistem Bancar Simplificat</a:t>
            </a:r>
            <a:endParaRPr lang="en-US" sz="1000" dirty="0"/>
          </a:p>
        </p:txBody>
      </p:sp>
      <p:sp>
        <p:nvSpPr>
          <p:cNvPr id="35" name="TextBox 34">
            <a:extLst>
              <a:ext uri="{FF2B5EF4-FFF2-40B4-BE49-F238E27FC236}">
                <a16:creationId xmlns:a16="http://schemas.microsoft.com/office/drawing/2014/main" id="{11146782-2732-0D40-4A03-0B42ACB479FB}"/>
              </a:ext>
            </a:extLst>
          </p:cNvPr>
          <p:cNvSpPr txBox="1"/>
          <p:nvPr/>
        </p:nvSpPr>
        <p:spPr>
          <a:xfrm>
            <a:off x="274320" y="1379506"/>
            <a:ext cx="5175969" cy="3110723"/>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ro-RO" sz="1200"/>
              <a:t>clienti (1) ─── (1) detalii_pf [date specifice persoanelor fizice]</a:t>
            </a:r>
          </a:p>
          <a:p>
            <a:pPr marL="171450" indent="-171450">
              <a:lnSpc>
                <a:spcPct val="150000"/>
              </a:lnSpc>
              <a:buFont typeface="Arial" panose="020B0604020202020204" pitchFamily="34" charset="0"/>
              <a:buChar char="•"/>
            </a:pPr>
            <a:r>
              <a:rPr lang="ro-RO" sz="1200"/>
              <a:t>clienti (1) ─── (1) detalii_pj [date specifice firmelor/persoanelor juridice]</a:t>
            </a:r>
          </a:p>
          <a:p>
            <a:pPr marL="171450" indent="-171450">
              <a:lnSpc>
                <a:spcPct val="150000"/>
              </a:lnSpc>
              <a:buFont typeface="Arial" panose="020B0604020202020204" pitchFamily="34" charset="0"/>
              <a:buChar char="•"/>
            </a:pPr>
            <a:r>
              <a:rPr lang="ro-RO" sz="1200"/>
              <a:t>clienti (1) ─── (N) conturi [un client poate avea mai multe conturi]</a:t>
            </a:r>
          </a:p>
          <a:p>
            <a:pPr marL="171450" indent="-171450">
              <a:lnSpc>
                <a:spcPct val="150000"/>
              </a:lnSpc>
              <a:buFont typeface="Arial" panose="020B0604020202020204" pitchFamily="34" charset="0"/>
              <a:buChar char="•"/>
            </a:pPr>
            <a:r>
              <a:rPr lang="ro-RO" sz="1200"/>
              <a:t>clienti (1) ─── (N) beneficiari [</a:t>
            </a:r>
            <a:r>
              <a:rPr lang="en-US" sz="1200"/>
              <a:t>un client poate avea mai multe contacte</a:t>
            </a:r>
            <a:r>
              <a:rPr lang="ro-RO" sz="1200"/>
              <a:t>]</a:t>
            </a:r>
          </a:p>
          <a:p>
            <a:pPr marL="171450" indent="-171450">
              <a:lnSpc>
                <a:spcPct val="150000"/>
              </a:lnSpc>
              <a:buFont typeface="Arial" panose="020B0604020202020204" pitchFamily="34" charset="0"/>
              <a:buChar char="•"/>
            </a:pPr>
            <a:r>
              <a:rPr lang="ro-RO" sz="1200"/>
              <a:t>clienti (1) ─── (N) notificari [</a:t>
            </a:r>
            <a:r>
              <a:rPr lang="en-US" sz="1200"/>
              <a:t>un client prime</a:t>
            </a:r>
            <a:r>
              <a:rPr lang="ro-RO" sz="1200"/>
              <a:t>ș</a:t>
            </a:r>
            <a:r>
              <a:rPr lang="en-US" sz="1200"/>
              <a:t>te mai multe mesaje/alerte</a:t>
            </a:r>
            <a:r>
              <a:rPr lang="ro-RO" sz="1200"/>
              <a:t>]</a:t>
            </a:r>
          </a:p>
          <a:p>
            <a:pPr marL="171450" indent="-171450">
              <a:lnSpc>
                <a:spcPct val="150000"/>
              </a:lnSpc>
              <a:buFont typeface="Arial" panose="020B0604020202020204" pitchFamily="34" charset="0"/>
              <a:buChar char="•"/>
            </a:pPr>
            <a:r>
              <a:rPr lang="ro-RO" sz="1200"/>
              <a:t>conturi (1) ─── (N) tranzactii [un cont poate face mai multe tranzacții]</a:t>
            </a:r>
          </a:p>
          <a:p>
            <a:pPr marL="171450" indent="-171450">
              <a:lnSpc>
                <a:spcPct val="150000"/>
              </a:lnSpc>
              <a:buFont typeface="Arial" panose="020B0604020202020204" pitchFamily="34" charset="0"/>
              <a:buChar char="•"/>
            </a:pPr>
            <a:r>
              <a:rPr lang="ro-RO" sz="1200"/>
              <a:t>conturi (1) ─── (N) extrasecont [</a:t>
            </a:r>
            <a:r>
              <a:rPr lang="en-US" sz="1200"/>
              <a:t>un client poate genera mai multe extrase</a:t>
            </a:r>
            <a:r>
              <a:rPr lang="ro-RO" sz="1200"/>
              <a:t>]</a:t>
            </a:r>
          </a:p>
          <a:p>
            <a:pPr marL="171450" indent="-171450">
              <a:lnSpc>
                <a:spcPct val="150000"/>
              </a:lnSpc>
              <a:buFont typeface="Arial" panose="020B0604020202020204" pitchFamily="34" charset="0"/>
              <a:buChar char="•"/>
            </a:pPr>
            <a:r>
              <a:rPr lang="ro-RO" sz="1200"/>
              <a:t>conturi (1) ─── (N) beneficiari [un IBAN poate fi salvat de mai mulți clienți]</a:t>
            </a:r>
          </a:p>
          <a:p>
            <a:pPr marL="171450" indent="-171450">
              <a:lnSpc>
                <a:spcPct val="150000"/>
              </a:lnSpc>
              <a:buFont typeface="Arial" panose="020B0604020202020204" pitchFamily="34" charset="0"/>
              <a:buChar char="•"/>
            </a:pPr>
            <a:r>
              <a:rPr lang="ro-RO" sz="1200"/>
              <a:t>conturi (N) ─── (1) tipuricont [tipul contului: Curent, Economii, etc.]</a:t>
            </a:r>
          </a:p>
          <a:p>
            <a:pPr marL="171450" indent="-171450">
              <a:lnSpc>
                <a:spcPct val="150000"/>
              </a:lnSpc>
              <a:buFont typeface="Arial" panose="020B0604020202020204" pitchFamily="34" charset="0"/>
              <a:buChar char="•"/>
            </a:pPr>
            <a:r>
              <a:rPr lang="ro-RO" sz="1200"/>
              <a:t>conturi (N) ─── (1) config_currencies [moneda contului și limitele de transfer]</a:t>
            </a:r>
          </a:p>
          <a:p>
            <a:pPr marL="171450" indent="-171450">
              <a:lnSpc>
                <a:spcPct val="150000"/>
              </a:lnSpc>
              <a:buFont typeface="Arial" panose="020B0604020202020204" pitchFamily="34" charset="0"/>
              <a:buChar char="•"/>
            </a:pPr>
            <a:r>
              <a:rPr lang="ro-RO" sz="1200"/>
              <a:t>conturi (N) ─── (M) transferuri [un cont poate fi</a:t>
            </a:r>
            <a:r>
              <a:rPr lang="en-US" sz="1200"/>
              <a:t> at</a:t>
            </a:r>
            <a:r>
              <a:rPr lang="ro-RO" sz="1200"/>
              <a:t>â</a:t>
            </a:r>
            <a:r>
              <a:rPr lang="en-US" sz="1200"/>
              <a:t>t</a:t>
            </a:r>
            <a:r>
              <a:rPr lang="ro-RO" sz="1200"/>
              <a:t> sursă </a:t>
            </a:r>
            <a:r>
              <a:rPr lang="en-US" sz="1200"/>
              <a:t>c</a:t>
            </a:r>
            <a:r>
              <a:rPr lang="ro-RO" sz="1200"/>
              <a:t>â</a:t>
            </a:r>
            <a:r>
              <a:rPr lang="en-US" sz="1200"/>
              <a:t>t </a:t>
            </a:r>
            <a:r>
              <a:rPr lang="ro-RO" sz="1200"/>
              <a:t>ș</a:t>
            </a:r>
            <a:r>
              <a:rPr lang="en-US" sz="1200"/>
              <a:t>i </a:t>
            </a:r>
            <a:r>
              <a:rPr lang="ro-RO" sz="1200"/>
              <a:t>destinație]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9A84C"/>
          </a:solidFill>
          <a:ln w="12700">
            <a:solidFill>
              <a:srgbClr val="C9A84C"/>
            </a:solidFill>
            <a:prstDash val="solid"/>
          </a:ln>
        </p:spPr>
        <p:txBody>
          <a:bodyPr/>
          <a:lstStyle/>
          <a:p>
            <a:endParaRPr lang="ro-RO"/>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300" b="1" dirty="0">
                <a:solidFill>
                  <a:srgbClr val="0A1628"/>
                </a:solidFill>
                <a:latin typeface="Calibri" pitchFamily="34" charset="0"/>
                <a:ea typeface="Calibri" pitchFamily="34" charset="-122"/>
                <a:cs typeface="Calibri" pitchFamily="34" charset="-120"/>
              </a:rPr>
              <a:t>Tranzacții ACID — Procedura EfectueazaTransfer</a:t>
            </a:r>
            <a:endParaRPr lang="en-US" sz="2300" dirty="0"/>
          </a:p>
        </p:txBody>
      </p:sp>
      <p:sp>
        <p:nvSpPr>
          <p:cNvPr id="4" name="Shape 2"/>
          <p:cNvSpPr/>
          <p:nvPr/>
        </p:nvSpPr>
        <p:spPr>
          <a:xfrm>
            <a:off x="182880" y="914400"/>
            <a:ext cx="2057400" cy="3840480"/>
          </a:xfrm>
          <a:prstGeom prst="rect">
            <a:avLst/>
          </a:prstGeom>
          <a:solidFill>
            <a:srgbClr val="0A1628"/>
          </a:solidFill>
          <a:ln w="12700">
            <a:solidFill>
              <a:srgbClr val="1A3560"/>
            </a:solidFill>
            <a:prstDash val="solid"/>
          </a:ln>
        </p:spPr>
        <p:txBody>
          <a:bodyPr/>
          <a:lstStyle/>
          <a:p>
            <a:endParaRPr lang="ro-RO"/>
          </a:p>
        </p:txBody>
      </p:sp>
      <p:sp>
        <p:nvSpPr>
          <p:cNvPr id="5" name="Shape 3"/>
          <p:cNvSpPr/>
          <p:nvPr/>
        </p:nvSpPr>
        <p:spPr>
          <a:xfrm>
            <a:off x="182880" y="914400"/>
            <a:ext cx="2057400" cy="594360"/>
          </a:xfrm>
          <a:prstGeom prst="rect">
            <a:avLst/>
          </a:prstGeom>
          <a:solidFill>
            <a:srgbClr val="1A3560"/>
          </a:solidFill>
          <a:ln w="12700">
            <a:solidFill>
              <a:srgbClr val="1A3560"/>
            </a:solidFill>
            <a:prstDash val="solid"/>
          </a:ln>
        </p:spPr>
        <p:txBody>
          <a:bodyPr/>
          <a:lstStyle/>
          <a:p>
            <a:endParaRPr lang="ro-RO"/>
          </a:p>
        </p:txBody>
      </p:sp>
      <p:sp>
        <p:nvSpPr>
          <p:cNvPr id="6" name="Text 4"/>
          <p:cNvSpPr/>
          <p:nvPr/>
        </p:nvSpPr>
        <p:spPr>
          <a:xfrm>
            <a:off x="182880" y="914400"/>
            <a:ext cx="594360" cy="594360"/>
          </a:xfrm>
          <a:prstGeom prst="rect">
            <a:avLst/>
          </a:prstGeom>
          <a:noFill/>
          <a:ln/>
        </p:spPr>
        <p:txBody>
          <a:bodyPr wrap="square" lIns="0" tIns="0" rIns="0" bIns="0" rtlCol="0" anchor="ctr"/>
          <a:lstStyle/>
          <a:p>
            <a:pPr marL="0" indent="0" algn="ctr">
              <a:buNone/>
            </a:pPr>
            <a:r>
              <a:rPr lang="en-US" sz="2800" b="1" dirty="0">
                <a:solidFill>
                  <a:srgbClr val="C9A84C"/>
                </a:solidFill>
                <a:latin typeface="Calibri" pitchFamily="34" charset="0"/>
                <a:ea typeface="Calibri" pitchFamily="34" charset="-122"/>
                <a:cs typeface="Calibri" pitchFamily="34" charset="-120"/>
              </a:rPr>
              <a:t>A</a:t>
            </a:r>
            <a:endParaRPr lang="en-US" sz="2800" dirty="0"/>
          </a:p>
        </p:txBody>
      </p:sp>
      <p:sp>
        <p:nvSpPr>
          <p:cNvPr id="7" name="Text 5"/>
          <p:cNvSpPr/>
          <p:nvPr/>
        </p:nvSpPr>
        <p:spPr>
          <a:xfrm>
            <a:off x="777240" y="914400"/>
            <a:ext cx="1463040" cy="5943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Atomicitate</a:t>
            </a:r>
            <a:endParaRPr lang="en-US" sz="1300" dirty="0"/>
          </a:p>
        </p:txBody>
      </p:sp>
      <p:sp>
        <p:nvSpPr>
          <p:cNvPr id="8" name="Text 6"/>
          <p:cNvSpPr/>
          <p:nvPr/>
        </p:nvSpPr>
        <p:spPr>
          <a:xfrm>
            <a:off x="292608" y="1600200"/>
            <a:ext cx="1828800" cy="3063240"/>
          </a:xfrm>
          <a:prstGeom prst="rect">
            <a:avLst/>
          </a:prstGeom>
          <a:noFill/>
          <a:ln/>
        </p:spPr>
        <p:txBody>
          <a:bodyPr wrap="square" lIns="0" tIns="0" rIns="0" bIns="0" rtlCol="0" anchor="t"/>
          <a:lstStyle/>
          <a:p>
            <a:pPr marL="0" indent="0" algn="l">
              <a:lnSpc>
                <a:spcPct val="200000"/>
              </a:lnSpc>
              <a:buNone/>
            </a:pPr>
            <a:r>
              <a:rPr lang="en-US" sz="1100" dirty="0">
                <a:solidFill>
                  <a:srgbClr val="E8EDF5"/>
                </a:solidFill>
                <a:latin typeface="Calibri" pitchFamily="34" charset="0"/>
                <a:ea typeface="Calibri" pitchFamily="34" charset="-122"/>
                <a:cs typeface="Calibri" pitchFamily="34" charset="-120"/>
              </a:rPr>
              <a:t>Transferul debitează contul sursă și creditează contul destinatar într-o singură unitate. Dacă oricare operație eșuează, ROLLBACK readuce ambele conturi la starea inițială. Niciodată nu se poate deduce fără să se adauge.</a:t>
            </a:r>
            <a:endParaRPr lang="en-US" sz="1100" dirty="0"/>
          </a:p>
        </p:txBody>
      </p:sp>
      <p:sp>
        <p:nvSpPr>
          <p:cNvPr id="9" name="Shape 7"/>
          <p:cNvSpPr/>
          <p:nvPr/>
        </p:nvSpPr>
        <p:spPr>
          <a:xfrm>
            <a:off x="2395728" y="914400"/>
            <a:ext cx="2057400" cy="3840480"/>
          </a:xfrm>
          <a:prstGeom prst="rect">
            <a:avLst/>
          </a:prstGeom>
          <a:solidFill>
            <a:srgbClr val="0A1628"/>
          </a:solidFill>
          <a:ln w="12700">
            <a:solidFill>
              <a:srgbClr val="1A3560"/>
            </a:solidFill>
            <a:prstDash val="solid"/>
          </a:ln>
        </p:spPr>
        <p:txBody>
          <a:bodyPr/>
          <a:lstStyle/>
          <a:p>
            <a:endParaRPr lang="ro-RO"/>
          </a:p>
        </p:txBody>
      </p:sp>
      <p:sp>
        <p:nvSpPr>
          <p:cNvPr id="10" name="Shape 8"/>
          <p:cNvSpPr/>
          <p:nvPr/>
        </p:nvSpPr>
        <p:spPr>
          <a:xfrm>
            <a:off x="2395728" y="914400"/>
            <a:ext cx="2057400" cy="594360"/>
          </a:xfrm>
          <a:prstGeom prst="rect">
            <a:avLst/>
          </a:prstGeom>
          <a:solidFill>
            <a:srgbClr val="1A3560"/>
          </a:solidFill>
          <a:ln w="12700">
            <a:solidFill>
              <a:srgbClr val="1A3560"/>
            </a:solidFill>
            <a:prstDash val="solid"/>
          </a:ln>
        </p:spPr>
        <p:txBody>
          <a:bodyPr/>
          <a:lstStyle/>
          <a:p>
            <a:endParaRPr lang="ro-RO"/>
          </a:p>
        </p:txBody>
      </p:sp>
      <p:sp>
        <p:nvSpPr>
          <p:cNvPr id="11" name="Text 9"/>
          <p:cNvSpPr/>
          <p:nvPr/>
        </p:nvSpPr>
        <p:spPr>
          <a:xfrm>
            <a:off x="2395728" y="914400"/>
            <a:ext cx="594360" cy="594360"/>
          </a:xfrm>
          <a:prstGeom prst="rect">
            <a:avLst/>
          </a:prstGeom>
          <a:noFill/>
          <a:ln/>
        </p:spPr>
        <p:txBody>
          <a:bodyPr wrap="square" lIns="0" tIns="0" rIns="0" bIns="0" rtlCol="0" anchor="ctr"/>
          <a:lstStyle/>
          <a:p>
            <a:pPr marL="0" indent="0" algn="ctr">
              <a:buNone/>
            </a:pPr>
            <a:r>
              <a:rPr lang="en-US" sz="2800" b="1" dirty="0">
                <a:solidFill>
                  <a:srgbClr val="C9A84C"/>
                </a:solidFill>
                <a:latin typeface="Calibri" pitchFamily="34" charset="0"/>
                <a:ea typeface="Calibri" pitchFamily="34" charset="-122"/>
                <a:cs typeface="Calibri" pitchFamily="34" charset="-120"/>
              </a:rPr>
              <a:t>C</a:t>
            </a:r>
            <a:endParaRPr lang="en-US" sz="2800" dirty="0"/>
          </a:p>
        </p:txBody>
      </p:sp>
      <p:sp>
        <p:nvSpPr>
          <p:cNvPr id="12" name="Text 10"/>
          <p:cNvSpPr/>
          <p:nvPr/>
        </p:nvSpPr>
        <p:spPr>
          <a:xfrm>
            <a:off x="2990088" y="914400"/>
            <a:ext cx="1463040" cy="5943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Consistență</a:t>
            </a:r>
            <a:endParaRPr lang="en-US" sz="1300" dirty="0"/>
          </a:p>
        </p:txBody>
      </p:sp>
      <p:sp>
        <p:nvSpPr>
          <p:cNvPr id="13" name="Text 11"/>
          <p:cNvSpPr/>
          <p:nvPr/>
        </p:nvSpPr>
        <p:spPr>
          <a:xfrm>
            <a:off x="2505456" y="1600200"/>
            <a:ext cx="1828800" cy="3063240"/>
          </a:xfrm>
          <a:prstGeom prst="rect">
            <a:avLst/>
          </a:prstGeom>
          <a:noFill/>
          <a:ln/>
        </p:spPr>
        <p:txBody>
          <a:bodyPr wrap="square" lIns="0" tIns="0" rIns="0" bIns="0" rtlCol="0" anchor="t"/>
          <a:lstStyle/>
          <a:p>
            <a:pPr marL="0" indent="0" algn="l">
              <a:lnSpc>
                <a:spcPct val="200000"/>
              </a:lnSpc>
              <a:buNone/>
            </a:pPr>
            <a:r>
              <a:rPr lang="en-US" sz="1100" dirty="0">
                <a:solidFill>
                  <a:srgbClr val="E8EDF5"/>
                </a:solidFill>
                <a:latin typeface="Calibri" pitchFamily="34" charset="0"/>
                <a:ea typeface="Calibri" pitchFamily="34" charset="-122"/>
                <a:cs typeface="Calibri" pitchFamily="34" charset="-120"/>
              </a:rPr>
              <a:t>Triggere verifică că soldul nu scade sub 0 (verifica_sold_minim). Suma transferului trebuie să depășească limita minimă configurată în config_currencies. Constrângerile FK asigură integritatea referențială.</a:t>
            </a:r>
            <a:endParaRPr lang="en-US" sz="1100" dirty="0"/>
          </a:p>
        </p:txBody>
      </p:sp>
      <p:sp>
        <p:nvSpPr>
          <p:cNvPr id="14" name="Shape 12"/>
          <p:cNvSpPr/>
          <p:nvPr/>
        </p:nvSpPr>
        <p:spPr>
          <a:xfrm>
            <a:off x="4608576" y="914400"/>
            <a:ext cx="2057400" cy="3840480"/>
          </a:xfrm>
          <a:prstGeom prst="rect">
            <a:avLst/>
          </a:prstGeom>
          <a:solidFill>
            <a:srgbClr val="0A1628"/>
          </a:solidFill>
          <a:ln w="12700">
            <a:solidFill>
              <a:srgbClr val="1A3560"/>
            </a:solidFill>
            <a:prstDash val="solid"/>
          </a:ln>
        </p:spPr>
        <p:txBody>
          <a:bodyPr/>
          <a:lstStyle/>
          <a:p>
            <a:endParaRPr lang="ro-RO"/>
          </a:p>
        </p:txBody>
      </p:sp>
      <p:sp>
        <p:nvSpPr>
          <p:cNvPr id="15" name="Shape 13"/>
          <p:cNvSpPr/>
          <p:nvPr/>
        </p:nvSpPr>
        <p:spPr>
          <a:xfrm>
            <a:off x="4608576" y="914400"/>
            <a:ext cx="2057400" cy="594360"/>
          </a:xfrm>
          <a:prstGeom prst="rect">
            <a:avLst/>
          </a:prstGeom>
          <a:solidFill>
            <a:srgbClr val="1A3560"/>
          </a:solidFill>
          <a:ln w="12700">
            <a:solidFill>
              <a:srgbClr val="1A3560"/>
            </a:solidFill>
            <a:prstDash val="solid"/>
          </a:ln>
        </p:spPr>
        <p:txBody>
          <a:bodyPr/>
          <a:lstStyle/>
          <a:p>
            <a:endParaRPr lang="ro-RO"/>
          </a:p>
        </p:txBody>
      </p:sp>
      <p:sp>
        <p:nvSpPr>
          <p:cNvPr id="16" name="Text 14"/>
          <p:cNvSpPr/>
          <p:nvPr/>
        </p:nvSpPr>
        <p:spPr>
          <a:xfrm>
            <a:off x="4608576" y="914400"/>
            <a:ext cx="594360" cy="594360"/>
          </a:xfrm>
          <a:prstGeom prst="rect">
            <a:avLst/>
          </a:prstGeom>
          <a:noFill/>
          <a:ln/>
        </p:spPr>
        <p:txBody>
          <a:bodyPr wrap="square" lIns="0" tIns="0" rIns="0" bIns="0" rtlCol="0" anchor="ctr"/>
          <a:lstStyle/>
          <a:p>
            <a:pPr marL="0" indent="0" algn="ctr">
              <a:buNone/>
            </a:pPr>
            <a:r>
              <a:rPr lang="en-US" sz="2800" b="1" dirty="0">
                <a:solidFill>
                  <a:srgbClr val="C9A84C"/>
                </a:solidFill>
                <a:latin typeface="Calibri" pitchFamily="34" charset="0"/>
                <a:ea typeface="Calibri" pitchFamily="34" charset="-122"/>
                <a:cs typeface="Calibri" pitchFamily="34" charset="-120"/>
              </a:rPr>
              <a:t>I</a:t>
            </a:r>
            <a:endParaRPr lang="en-US" sz="2800" dirty="0"/>
          </a:p>
        </p:txBody>
      </p:sp>
      <p:sp>
        <p:nvSpPr>
          <p:cNvPr id="17" name="Text 15"/>
          <p:cNvSpPr/>
          <p:nvPr/>
        </p:nvSpPr>
        <p:spPr>
          <a:xfrm>
            <a:off x="5202936" y="914400"/>
            <a:ext cx="1463040" cy="5943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Izolare</a:t>
            </a:r>
            <a:endParaRPr lang="en-US" sz="1300" dirty="0"/>
          </a:p>
        </p:txBody>
      </p:sp>
      <p:sp>
        <p:nvSpPr>
          <p:cNvPr id="18" name="Text 16"/>
          <p:cNvSpPr/>
          <p:nvPr/>
        </p:nvSpPr>
        <p:spPr>
          <a:xfrm>
            <a:off x="4718304" y="1600200"/>
            <a:ext cx="1828800" cy="3063240"/>
          </a:xfrm>
          <a:prstGeom prst="rect">
            <a:avLst/>
          </a:prstGeom>
          <a:noFill/>
          <a:ln/>
        </p:spPr>
        <p:txBody>
          <a:bodyPr wrap="square" lIns="0" tIns="0" rIns="0" bIns="0" rtlCol="0" anchor="t"/>
          <a:lstStyle/>
          <a:p>
            <a:pPr marL="0" indent="0" algn="l">
              <a:lnSpc>
                <a:spcPct val="200000"/>
              </a:lnSpc>
              <a:buNone/>
            </a:pPr>
            <a:r>
              <a:rPr lang="en-US" sz="1100" dirty="0">
                <a:solidFill>
                  <a:srgbClr val="E8EDF5"/>
                </a:solidFill>
                <a:latin typeface="Calibri" pitchFamily="34" charset="0"/>
                <a:ea typeface="Calibri" pitchFamily="34" charset="-122"/>
                <a:cs typeface="Calibri" pitchFamily="34" charset="-120"/>
              </a:rPr>
              <a:t>SELECT ... FOR UPDATE blochează rândurile implicate pe durata tranzacției, prevenind </a:t>
            </a:r>
            <a:r>
              <a:rPr lang="en-US" sz="1100">
                <a:solidFill>
                  <a:srgbClr val="E8EDF5"/>
                </a:solidFill>
                <a:latin typeface="Calibri" pitchFamily="34" charset="0"/>
                <a:ea typeface="Calibri" pitchFamily="34" charset="-122"/>
                <a:cs typeface="Calibri" pitchFamily="34" charset="-120"/>
              </a:rPr>
              <a:t>citiri </a:t>
            </a:r>
            <a:r>
              <a:rPr lang="ro-RO" sz="1100">
                <a:solidFill>
                  <a:srgbClr val="E8EDF5"/>
                </a:solidFill>
                <a:latin typeface="Calibri" pitchFamily="34" charset="0"/>
                <a:ea typeface="Calibri" pitchFamily="34" charset="-122"/>
                <a:cs typeface="Calibri" pitchFamily="34" charset="-120"/>
              </a:rPr>
              <a:t>inconsistente</a:t>
            </a:r>
            <a:r>
              <a:rPr lang="en-US" sz="1100">
                <a:solidFill>
                  <a:srgbClr val="E8EDF5"/>
                </a:solidFill>
                <a:latin typeface="Calibri" pitchFamily="34" charset="0"/>
                <a:ea typeface="Calibri" pitchFamily="34" charset="-122"/>
                <a:cs typeface="Calibri" pitchFamily="34" charset="-120"/>
              </a:rPr>
              <a:t> </a:t>
            </a:r>
            <a:r>
              <a:rPr lang="en-US" sz="1100" dirty="0">
                <a:solidFill>
                  <a:srgbClr val="E8EDF5"/>
                </a:solidFill>
                <a:latin typeface="Calibri" pitchFamily="34" charset="0"/>
                <a:ea typeface="Calibri" pitchFamily="34" charset="-122"/>
                <a:cs typeface="Calibri" pitchFamily="34" charset="-120"/>
              </a:rPr>
              <a:t>sau modificări concurente. Două transferuri simultane din același cont nu pot crea inconsistențe.</a:t>
            </a:r>
            <a:endParaRPr lang="en-US" sz="1100" dirty="0"/>
          </a:p>
        </p:txBody>
      </p:sp>
      <p:sp>
        <p:nvSpPr>
          <p:cNvPr id="19" name="Shape 17"/>
          <p:cNvSpPr/>
          <p:nvPr/>
        </p:nvSpPr>
        <p:spPr>
          <a:xfrm>
            <a:off x="6821424" y="914400"/>
            <a:ext cx="2057400" cy="3840480"/>
          </a:xfrm>
          <a:prstGeom prst="rect">
            <a:avLst/>
          </a:prstGeom>
          <a:solidFill>
            <a:srgbClr val="0A1628"/>
          </a:solidFill>
          <a:ln w="12700">
            <a:solidFill>
              <a:srgbClr val="1A3560"/>
            </a:solidFill>
            <a:prstDash val="solid"/>
          </a:ln>
        </p:spPr>
        <p:txBody>
          <a:bodyPr/>
          <a:lstStyle/>
          <a:p>
            <a:endParaRPr lang="ro-RO"/>
          </a:p>
        </p:txBody>
      </p:sp>
      <p:sp>
        <p:nvSpPr>
          <p:cNvPr id="20" name="Shape 18"/>
          <p:cNvSpPr/>
          <p:nvPr/>
        </p:nvSpPr>
        <p:spPr>
          <a:xfrm>
            <a:off x="6821424" y="914400"/>
            <a:ext cx="2057400" cy="594360"/>
          </a:xfrm>
          <a:prstGeom prst="rect">
            <a:avLst/>
          </a:prstGeom>
          <a:solidFill>
            <a:srgbClr val="1A3560"/>
          </a:solidFill>
          <a:ln w="12700">
            <a:solidFill>
              <a:srgbClr val="1A3560"/>
            </a:solidFill>
            <a:prstDash val="solid"/>
          </a:ln>
        </p:spPr>
        <p:txBody>
          <a:bodyPr/>
          <a:lstStyle/>
          <a:p>
            <a:endParaRPr lang="ro-RO"/>
          </a:p>
        </p:txBody>
      </p:sp>
      <p:sp>
        <p:nvSpPr>
          <p:cNvPr id="21" name="Text 19"/>
          <p:cNvSpPr/>
          <p:nvPr/>
        </p:nvSpPr>
        <p:spPr>
          <a:xfrm>
            <a:off x="6821424" y="914400"/>
            <a:ext cx="594360" cy="594360"/>
          </a:xfrm>
          <a:prstGeom prst="rect">
            <a:avLst/>
          </a:prstGeom>
          <a:noFill/>
          <a:ln/>
        </p:spPr>
        <p:txBody>
          <a:bodyPr wrap="square" lIns="0" tIns="0" rIns="0" bIns="0" rtlCol="0" anchor="ctr"/>
          <a:lstStyle/>
          <a:p>
            <a:pPr marL="0" indent="0" algn="ctr">
              <a:buNone/>
            </a:pPr>
            <a:r>
              <a:rPr lang="en-US" sz="2800" b="1" dirty="0">
                <a:solidFill>
                  <a:srgbClr val="C9A84C"/>
                </a:solidFill>
                <a:latin typeface="Calibri" pitchFamily="34" charset="0"/>
                <a:ea typeface="Calibri" pitchFamily="34" charset="-122"/>
                <a:cs typeface="Calibri" pitchFamily="34" charset="-120"/>
              </a:rPr>
              <a:t>D</a:t>
            </a:r>
            <a:endParaRPr lang="en-US" sz="2800" dirty="0"/>
          </a:p>
        </p:txBody>
      </p:sp>
      <p:sp>
        <p:nvSpPr>
          <p:cNvPr id="22" name="Text 20"/>
          <p:cNvSpPr/>
          <p:nvPr/>
        </p:nvSpPr>
        <p:spPr>
          <a:xfrm>
            <a:off x="7415784" y="914400"/>
            <a:ext cx="1463040" cy="59436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Durabilitate</a:t>
            </a:r>
            <a:endParaRPr lang="en-US" sz="1300" dirty="0"/>
          </a:p>
        </p:txBody>
      </p:sp>
      <p:sp>
        <p:nvSpPr>
          <p:cNvPr id="23" name="Text 21"/>
          <p:cNvSpPr/>
          <p:nvPr/>
        </p:nvSpPr>
        <p:spPr>
          <a:xfrm>
            <a:off x="6931152" y="1600200"/>
            <a:ext cx="1828800" cy="3063240"/>
          </a:xfrm>
          <a:prstGeom prst="rect">
            <a:avLst/>
          </a:prstGeom>
          <a:noFill/>
          <a:ln/>
        </p:spPr>
        <p:txBody>
          <a:bodyPr wrap="square" lIns="0" tIns="0" rIns="0" bIns="0" rtlCol="0" anchor="t"/>
          <a:lstStyle/>
          <a:p>
            <a:pPr marL="0" indent="0" algn="l">
              <a:lnSpc>
                <a:spcPct val="200000"/>
              </a:lnSpc>
              <a:buNone/>
            </a:pPr>
            <a:r>
              <a:rPr lang="en-US" sz="1100" dirty="0">
                <a:solidFill>
                  <a:srgbClr val="E8EDF5"/>
                </a:solidFill>
                <a:latin typeface="Calibri" pitchFamily="34" charset="0"/>
                <a:ea typeface="Calibri" pitchFamily="34" charset="-122"/>
                <a:cs typeface="Calibri" pitchFamily="34" charset="-120"/>
              </a:rPr>
              <a:t>La COMMIT, toate modificările (UPDATE sold, INSERT tranzactii, INSERT transferuri, INSERT notificari) sunt persistate permanent în baza de date, chiar și în cazul unui restart al serverului.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ro-RO"/>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Triggere </a:t>
            </a:r>
            <a:r>
              <a:rPr lang="en-US" sz="2400" b="1">
                <a:solidFill>
                  <a:srgbClr val="FFFFFF"/>
                </a:solidFill>
                <a:latin typeface="Calibri" pitchFamily="34" charset="0"/>
                <a:ea typeface="Calibri" pitchFamily="34" charset="-122"/>
                <a:cs typeface="Calibri" pitchFamily="34" charset="-120"/>
              </a:rPr>
              <a:t>— Automatizare</a:t>
            </a:r>
            <a:endParaRPr lang="en-US" sz="2400" dirty="0"/>
          </a:p>
        </p:txBody>
      </p:sp>
      <p:sp>
        <p:nvSpPr>
          <p:cNvPr id="4" name="Shape 2"/>
          <p:cNvSpPr/>
          <p:nvPr/>
        </p:nvSpPr>
        <p:spPr>
          <a:xfrm>
            <a:off x="164592" y="914400"/>
            <a:ext cx="4297680" cy="1920240"/>
          </a:xfrm>
          <a:prstGeom prst="rect">
            <a:avLst/>
          </a:prstGeom>
          <a:solidFill>
            <a:srgbClr val="E8EDF5"/>
          </a:solidFill>
          <a:ln w="12700">
            <a:solidFill>
              <a:srgbClr val="E8EDF5"/>
            </a:solidFill>
            <a:prstDash val="solid"/>
          </a:ln>
        </p:spPr>
        <p:txBody>
          <a:bodyPr/>
          <a:lstStyle/>
          <a:p>
            <a:endParaRPr lang="ro-RO"/>
          </a:p>
        </p:txBody>
      </p:sp>
      <p:sp>
        <p:nvSpPr>
          <p:cNvPr id="5" name="Shape 3"/>
          <p:cNvSpPr/>
          <p:nvPr/>
        </p:nvSpPr>
        <p:spPr>
          <a:xfrm>
            <a:off x="164592" y="914400"/>
            <a:ext cx="73152" cy="1920240"/>
          </a:xfrm>
          <a:prstGeom prst="rect">
            <a:avLst/>
          </a:prstGeom>
          <a:solidFill>
            <a:srgbClr val="2ECC71"/>
          </a:solidFill>
          <a:ln w="12700">
            <a:solidFill>
              <a:srgbClr val="2ECC71"/>
            </a:solidFill>
            <a:prstDash val="solid"/>
          </a:ln>
        </p:spPr>
        <p:txBody>
          <a:bodyPr/>
          <a:lstStyle/>
          <a:p>
            <a:endParaRPr lang="ro-RO"/>
          </a:p>
        </p:txBody>
      </p:sp>
      <p:sp>
        <p:nvSpPr>
          <p:cNvPr id="6" name="Text 4"/>
          <p:cNvSpPr/>
          <p:nvPr/>
        </p:nvSpPr>
        <p:spPr>
          <a:xfrm>
            <a:off x="329184" y="960120"/>
            <a:ext cx="4023360" cy="27432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dupa_insert_tranzactie</a:t>
            </a:r>
            <a:endParaRPr lang="en-US" sz="1200" dirty="0"/>
          </a:p>
        </p:txBody>
      </p:sp>
      <p:sp>
        <p:nvSpPr>
          <p:cNvPr id="7" name="Text 5"/>
          <p:cNvSpPr/>
          <p:nvPr/>
        </p:nvSpPr>
        <p:spPr>
          <a:xfrm>
            <a:off x="329184" y="1234440"/>
            <a:ext cx="4023360" cy="201168"/>
          </a:xfrm>
          <a:prstGeom prst="rect">
            <a:avLst/>
          </a:prstGeom>
          <a:noFill/>
          <a:ln/>
        </p:spPr>
        <p:txBody>
          <a:bodyPr wrap="square" lIns="0" tIns="0" rIns="0" bIns="0" rtlCol="0" anchor="ctr"/>
          <a:lstStyle/>
          <a:p>
            <a:pPr marL="0" indent="0">
              <a:buNone/>
            </a:pPr>
            <a:r>
              <a:rPr lang="en-US" sz="1000" i="1" dirty="0">
                <a:solidFill>
                  <a:srgbClr val="2ECC71"/>
                </a:solidFill>
                <a:latin typeface="Calibri" pitchFamily="34" charset="0"/>
                <a:ea typeface="Calibri" pitchFamily="34" charset="-122"/>
                <a:cs typeface="Calibri" pitchFamily="34" charset="-120"/>
              </a:rPr>
              <a:t>AFTER INSERT ON tranzactii</a:t>
            </a:r>
            <a:endParaRPr lang="en-US" sz="1000" dirty="0"/>
          </a:p>
        </p:txBody>
      </p:sp>
      <p:sp>
        <p:nvSpPr>
          <p:cNvPr id="8" name="Text 6"/>
          <p:cNvSpPr/>
          <p:nvPr/>
        </p:nvSpPr>
        <p:spPr>
          <a:xfrm>
            <a:off x="329184" y="1444752"/>
            <a:ext cx="2331720" cy="1325880"/>
          </a:xfrm>
          <a:prstGeom prst="rect">
            <a:avLst/>
          </a:prstGeom>
          <a:noFill/>
          <a:ln/>
        </p:spPr>
        <p:txBody>
          <a:bodyPr wrap="square" lIns="0" tIns="0" rIns="0" bIns="0" rtlCol="0" anchor="t"/>
          <a:lstStyle/>
          <a:p>
            <a:pPr marL="0" indent="0" algn="l">
              <a:buNone/>
            </a:pPr>
            <a:r>
              <a:rPr lang="en-US" sz="1000" dirty="0">
                <a:solidFill>
                  <a:srgbClr val="0A1628"/>
                </a:solidFill>
                <a:latin typeface="Calibri" pitchFamily="34" charset="0"/>
                <a:ea typeface="Calibri" pitchFamily="34" charset="-122"/>
                <a:cs typeface="Calibri" pitchFamily="34" charset="-120"/>
              </a:rPr>
              <a:t>Cel mai important trigger al </a:t>
            </a:r>
            <a:r>
              <a:rPr lang="en-US" sz="1000">
                <a:solidFill>
                  <a:srgbClr val="0A1628"/>
                </a:solidFill>
                <a:latin typeface="Calibri" pitchFamily="34" charset="0"/>
                <a:ea typeface="Calibri" pitchFamily="34" charset="-122"/>
                <a:cs typeface="Calibri" pitchFamily="34" charset="-120"/>
              </a:rPr>
              <a:t>sistemului.</a:t>
            </a:r>
            <a:r>
              <a:rPr lang="ro-RO" sz="1000">
                <a:solidFill>
                  <a:srgbClr val="0A1628"/>
                </a:solidFill>
                <a:latin typeface="Calibri" pitchFamily="34" charset="0"/>
                <a:ea typeface="Calibri" pitchFamily="34" charset="-122"/>
                <a:cs typeface="Calibri" pitchFamily="34" charset="-120"/>
              </a:rPr>
              <a:t> </a:t>
            </a:r>
            <a:r>
              <a:rPr lang="en-US" sz="1000">
                <a:solidFill>
                  <a:srgbClr val="0A1628"/>
                </a:solidFill>
                <a:latin typeface="Calibri" pitchFamily="34" charset="0"/>
                <a:ea typeface="Calibri" pitchFamily="34" charset="-122"/>
                <a:cs typeface="Calibri" pitchFamily="34" charset="-120"/>
              </a:rPr>
              <a:t>Actualizarea </a:t>
            </a:r>
            <a:r>
              <a:rPr lang="en-US" sz="1000" dirty="0">
                <a:solidFill>
                  <a:srgbClr val="0A1628"/>
                </a:solidFill>
                <a:latin typeface="Calibri" pitchFamily="34" charset="0"/>
                <a:ea typeface="Calibri" pitchFamily="34" charset="-122"/>
                <a:cs typeface="Calibri" pitchFamily="34" charset="-120"/>
              </a:rPr>
              <a:t>soldului este automată și complet transparentă pentru aplicație. Elimina necesitatea unui UPDATE manual în fiecare loc din cod.</a:t>
            </a:r>
            <a:endParaRPr lang="en-US" sz="1000" dirty="0"/>
          </a:p>
        </p:txBody>
      </p:sp>
      <p:sp>
        <p:nvSpPr>
          <p:cNvPr id="9" name="Shape 7"/>
          <p:cNvSpPr/>
          <p:nvPr/>
        </p:nvSpPr>
        <p:spPr>
          <a:xfrm>
            <a:off x="2743200" y="1444752"/>
            <a:ext cx="1645920" cy="1325880"/>
          </a:xfrm>
          <a:prstGeom prst="rect">
            <a:avLst/>
          </a:prstGeom>
          <a:solidFill>
            <a:srgbClr val="0A1628"/>
          </a:solidFill>
          <a:ln w="12700">
            <a:solidFill>
              <a:srgbClr val="0A1628"/>
            </a:solidFill>
            <a:prstDash val="solid"/>
          </a:ln>
        </p:spPr>
        <p:txBody>
          <a:bodyPr/>
          <a:lstStyle/>
          <a:p>
            <a:endParaRPr lang="ro-RO"/>
          </a:p>
        </p:txBody>
      </p:sp>
      <p:sp>
        <p:nvSpPr>
          <p:cNvPr id="10" name="Text 8"/>
          <p:cNvSpPr/>
          <p:nvPr/>
        </p:nvSpPr>
        <p:spPr>
          <a:xfrm>
            <a:off x="2798064" y="1472184"/>
            <a:ext cx="1554480" cy="1271016"/>
          </a:xfrm>
          <a:prstGeom prst="rect">
            <a:avLst/>
          </a:prstGeom>
          <a:noFill/>
          <a:ln/>
        </p:spPr>
        <p:txBody>
          <a:bodyPr wrap="square" lIns="0" tIns="0" rIns="0" bIns="0" rtlCol="0" anchor="t"/>
          <a:lstStyle/>
          <a:p>
            <a:pPr marL="0" indent="0" algn="l">
              <a:buNone/>
            </a:pPr>
            <a:r>
              <a:rPr lang="en-US" sz="700" dirty="0">
                <a:solidFill>
                  <a:srgbClr val="00B4D8"/>
                </a:solidFill>
                <a:latin typeface="Consolas" pitchFamily="34" charset="0"/>
                <a:ea typeface="Consolas" pitchFamily="34" charset="-122"/>
                <a:cs typeface="Consolas" pitchFamily="34" charset="-120"/>
              </a:rPr>
              <a:t>IF NEW.tip_tranzactie = 'Intrare' THEN</a:t>
            </a:r>
            <a:endParaRPr lang="en-US" sz="700" dirty="0"/>
          </a:p>
          <a:p>
            <a:pPr marL="0" indent="0" algn="l">
              <a:buNone/>
            </a:pPr>
            <a:r>
              <a:rPr lang="en-US" sz="700" dirty="0">
                <a:solidFill>
                  <a:srgbClr val="00B4D8"/>
                </a:solidFill>
                <a:latin typeface="Consolas" pitchFamily="34" charset="0"/>
                <a:ea typeface="Consolas" pitchFamily="34" charset="-122"/>
                <a:cs typeface="Consolas" pitchFamily="34" charset="-120"/>
              </a:rPr>
              <a:t>  UPDATE Conturi SET sold = sold + NEW.suma</a:t>
            </a:r>
            <a:endParaRPr lang="en-US" sz="700" dirty="0"/>
          </a:p>
          <a:p>
            <a:pPr marL="0" indent="0" algn="l">
              <a:buNone/>
            </a:pPr>
            <a:r>
              <a:rPr lang="en-US" sz="700" dirty="0">
                <a:solidFill>
                  <a:srgbClr val="00B4D8"/>
                </a:solidFill>
                <a:latin typeface="Consolas" pitchFamily="34" charset="0"/>
                <a:ea typeface="Consolas" pitchFamily="34" charset="-122"/>
                <a:cs typeface="Consolas" pitchFamily="34" charset="-120"/>
              </a:rPr>
              <a:t>  WHERE id_cont = NEW.id_cont;</a:t>
            </a:r>
            <a:endParaRPr lang="en-US" sz="700" dirty="0"/>
          </a:p>
          <a:p>
            <a:pPr marL="0" indent="0" algn="l">
              <a:buNone/>
            </a:pPr>
            <a:r>
              <a:rPr lang="en-US" sz="700" dirty="0">
                <a:solidFill>
                  <a:srgbClr val="00B4D8"/>
                </a:solidFill>
                <a:latin typeface="Consolas" pitchFamily="34" charset="0"/>
                <a:ea typeface="Consolas" pitchFamily="34" charset="-122"/>
                <a:cs typeface="Consolas" pitchFamily="34" charset="-120"/>
              </a:rPr>
              <a:t>ELSEIF NEW.tip_tranzactie = 'Iesire' THEN</a:t>
            </a:r>
            <a:endParaRPr lang="en-US" sz="700" dirty="0"/>
          </a:p>
          <a:p>
            <a:pPr marL="0" indent="0" algn="l">
              <a:buNone/>
            </a:pPr>
            <a:r>
              <a:rPr lang="en-US" sz="700" dirty="0">
                <a:solidFill>
                  <a:srgbClr val="00B4D8"/>
                </a:solidFill>
                <a:latin typeface="Consolas" pitchFamily="34" charset="0"/>
                <a:ea typeface="Consolas" pitchFamily="34" charset="-122"/>
                <a:cs typeface="Consolas" pitchFamily="34" charset="-120"/>
              </a:rPr>
              <a:t>  UPDATE Conturi SET sold = sold - NEW.suma</a:t>
            </a:r>
            <a:endParaRPr lang="en-US" sz="700" dirty="0"/>
          </a:p>
          <a:p>
            <a:pPr marL="0" indent="0" algn="l">
              <a:buNone/>
            </a:pPr>
            <a:r>
              <a:rPr lang="en-US" sz="700" dirty="0">
                <a:solidFill>
                  <a:srgbClr val="00B4D8"/>
                </a:solidFill>
                <a:latin typeface="Consolas" pitchFamily="34" charset="0"/>
                <a:ea typeface="Consolas" pitchFamily="34" charset="-122"/>
                <a:cs typeface="Consolas" pitchFamily="34" charset="-120"/>
              </a:rPr>
              <a:t>  WHERE id_cont = NEW.id_cont;</a:t>
            </a:r>
            <a:endParaRPr lang="en-US" sz="700" dirty="0"/>
          </a:p>
          <a:p>
            <a:pPr marL="0" indent="0" algn="l">
              <a:buNone/>
            </a:pPr>
            <a:r>
              <a:rPr lang="en-US" sz="700" dirty="0">
                <a:solidFill>
                  <a:srgbClr val="00B4D8"/>
                </a:solidFill>
                <a:latin typeface="Consolas" pitchFamily="34" charset="0"/>
                <a:ea typeface="Consolas" pitchFamily="34" charset="-122"/>
                <a:cs typeface="Consolas" pitchFamily="34" charset="-120"/>
              </a:rPr>
              <a:t>END IF;</a:t>
            </a:r>
            <a:endParaRPr lang="en-US" sz="700" dirty="0"/>
          </a:p>
        </p:txBody>
      </p:sp>
      <p:sp>
        <p:nvSpPr>
          <p:cNvPr id="11" name="Shape 9"/>
          <p:cNvSpPr/>
          <p:nvPr/>
        </p:nvSpPr>
        <p:spPr>
          <a:xfrm>
            <a:off x="4672584" y="914400"/>
            <a:ext cx="4297680" cy="1920240"/>
          </a:xfrm>
          <a:prstGeom prst="rect">
            <a:avLst/>
          </a:prstGeom>
          <a:solidFill>
            <a:srgbClr val="E8EDF5"/>
          </a:solidFill>
          <a:ln w="12700">
            <a:solidFill>
              <a:srgbClr val="E8EDF5"/>
            </a:solidFill>
            <a:prstDash val="solid"/>
          </a:ln>
        </p:spPr>
        <p:txBody>
          <a:bodyPr/>
          <a:lstStyle/>
          <a:p>
            <a:endParaRPr lang="ro-RO"/>
          </a:p>
        </p:txBody>
      </p:sp>
      <p:sp>
        <p:nvSpPr>
          <p:cNvPr id="12" name="Shape 10"/>
          <p:cNvSpPr/>
          <p:nvPr/>
        </p:nvSpPr>
        <p:spPr>
          <a:xfrm>
            <a:off x="4672584" y="914400"/>
            <a:ext cx="73152" cy="1920240"/>
          </a:xfrm>
          <a:prstGeom prst="rect">
            <a:avLst/>
          </a:prstGeom>
          <a:solidFill>
            <a:srgbClr val="E74C3C"/>
          </a:solidFill>
          <a:ln w="12700">
            <a:solidFill>
              <a:srgbClr val="E74C3C"/>
            </a:solidFill>
            <a:prstDash val="solid"/>
          </a:ln>
        </p:spPr>
        <p:txBody>
          <a:bodyPr/>
          <a:lstStyle/>
          <a:p>
            <a:endParaRPr lang="ro-RO"/>
          </a:p>
        </p:txBody>
      </p:sp>
      <p:sp>
        <p:nvSpPr>
          <p:cNvPr id="13" name="Text 11"/>
          <p:cNvSpPr/>
          <p:nvPr/>
        </p:nvSpPr>
        <p:spPr>
          <a:xfrm>
            <a:off x="4837176" y="960120"/>
            <a:ext cx="4023360" cy="27432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verifica_sold_minim</a:t>
            </a:r>
            <a:endParaRPr lang="en-US" sz="1200" dirty="0"/>
          </a:p>
        </p:txBody>
      </p:sp>
      <p:sp>
        <p:nvSpPr>
          <p:cNvPr id="14" name="Text 12"/>
          <p:cNvSpPr/>
          <p:nvPr/>
        </p:nvSpPr>
        <p:spPr>
          <a:xfrm>
            <a:off x="4837176" y="1234440"/>
            <a:ext cx="4023360" cy="201168"/>
          </a:xfrm>
          <a:prstGeom prst="rect">
            <a:avLst/>
          </a:prstGeom>
          <a:noFill/>
          <a:ln/>
        </p:spPr>
        <p:txBody>
          <a:bodyPr wrap="square" lIns="0" tIns="0" rIns="0" bIns="0" rtlCol="0" anchor="ctr"/>
          <a:lstStyle/>
          <a:p>
            <a:pPr marL="0" indent="0">
              <a:buNone/>
            </a:pPr>
            <a:r>
              <a:rPr lang="en-US" sz="1000" i="1" dirty="0">
                <a:solidFill>
                  <a:srgbClr val="E74C3C"/>
                </a:solidFill>
                <a:latin typeface="Calibri" pitchFamily="34" charset="0"/>
                <a:ea typeface="Calibri" pitchFamily="34" charset="-122"/>
                <a:cs typeface="Calibri" pitchFamily="34" charset="-120"/>
              </a:rPr>
              <a:t>BEFORE UPDATE ON conturi</a:t>
            </a:r>
            <a:endParaRPr lang="en-US" sz="1000" dirty="0"/>
          </a:p>
        </p:txBody>
      </p:sp>
      <p:sp>
        <p:nvSpPr>
          <p:cNvPr id="15" name="Text 13"/>
          <p:cNvSpPr/>
          <p:nvPr/>
        </p:nvSpPr>
        <p:spPr>
          <a:xfrm>
            <a:off x="4837176" y="1444752"/>
            <a:ext cx="2331720" cy="1325880"/>
          </a:xfrm>
          <a:prstGeom prst="rect">
            <a:avLst/>
          </a:prstGeom>
          <a:noFill/>
          <a:ln/>
        </p:spPr>
        <p:txBody>
          <a:bodyPr wrap="square" lIns="0" tIns="0" rIns="0" bIns="0" rtlCol="0" anchor="t"/>
          <a:lstStyle/>
          <a:p>
            <a:pPr marL="0" indent="0" algn="l">
              <a:buNone/>
            </a:pPr>
            <a:r>
              <a:rPr lang="en-US" sz="1000" dirty="0">
                <a:solidFill>
                  <a:srgbClr val="0A1628"/>
                </a:solidFill>
                <a:latin typeface="Calibri" pitchFamily="34" charset="0"/>
                <a:ea typeface="Calibri" pitchFamily="34" charset="-122"/>
                <a:cs typeface="Calibri" pitchFamily="34" charset="-120"/>
              </a:rPr>
              <a:t>Trigger de validare care rulează ÎNAINTE de orice modificare a soldului. Dacă noul sold ar deveni negativ</a:t>
            </a:r>
            <a:r>
              <a:rPr lang="en-US" sz="1000">
                <a:solidFill>
                  <a:srgbClr val="0A1628"/>
                </a:solidFill>
                <a:latin typeface="Calibri" pitchFamily="34" charset="0"/>
                <a:ea typeface="Calibri" pitchFamily="34" charset="-122"/>
                <a:cs typeface="Calibri" pitchFamily="34" charset="-120"/>
              </a:rPr>
              <a:t>, </a:t>
            </a:r>
            <a:r>
              <a:rPr lang="ro-RO" sz="1000">
                <a:solidFill>
                  <a:srgbClr val="0A1628"/>
                </a:solidFill>
                <a:latin typeface="Calibri" pitchFamily="34" charset="0"/>
                <a:ea typeface="Calibri" pitchFamily="34" charset="-122"/>
                <a:cs typeface="Calibri" pitchFamily="34" charset="-120"/>
              </a:rPr>
              <a:t>returneaza</a:t>
            </a:r>
            <a:r>
              <a:rPr lang="en-US" sz="1000">
                <a:solidFill>
                  <a:srgbClr val="0A1628"/>
                </a:solidFill>
                <a:latin typeface="Calibri" pitchFamily="34" charset="0"/>
                <a:ea typeface="Calibri" pitchFamily="34" charset="-122"/>
                <a:cs typeface="Calibri" pitchFamily="34" charset="-120"/>
              </a:rPr>
              <a:t> </a:t>
            </a:r>
            <a:r>
              <a:rPr lang="en-US" sz="1000" dirty="0">
                <a:solidFill>
                  <a:srgbClr val="0A1628"/>
                </a:solidFill>
                <a:latin typeface="Calibri" pitchFamily="34" charset="0"/>
                <a:ea typeface="Calibri" pitchFamily="34" charset="-122"/>
                <a:cs typeface="Calibri" pitchFamily="34" charset="-120"/>
              </a:rPr>
              <a:t>o eroare SQL customizată (SQLSTATE 45000) care declanșează ROLLBACK automat al întregii </a:t>
            </a:r>
            <a:r>
              <a:rPr lang="en-US" sz="1000">
                <a:solidFill>
                  <a:srgbClr val="0A1628"/>
                </a:solidFill>
                <a:latin typeface="Calibri" pitchFamily="34" charset="0"/>
                <a:ea typeface="Calibri" pitchFamily="34" charset="-122"/>
                <a:cs typeface="Calibri" pitchFamily="34" charset="-120"/>
              </a:rPr>
              <a:t>tranzacții.</a:t>
            </a:r>
            <a:endParaRPr lang="en-US" sz="1000" dirty="0"/>
          </a:p>
        </p:txBody>
      </p:sp>
      <p:sp>
        <p:nvSpPr>
          <p:cNvPr id="16" name="Shape 14"/>
          <p:cNvSpPr/>
          <p:nvPr/>
        </p:nvSpPr>
        <p:spPr>
          <a:xfrm>
            <a:off x="7251192" y="1444752"/>
            <a:ext cx="1645920" cy="1325880"/>
          </a:xfrm>
          <a:prstGeom prst="rect">
            <a:avLst/>
          </a:prstGeom>
          <a:solidFill>
            <a:srgbClr val="0A1628"/>
          </a:solidFill>
          <a:ln w="12700">
            <a:solidFill>
              <a:srgbClr val="0A1628"/>
            </a:solidFill>
            <a:prstDash val="solid"/>
          </a:ln>
        </p:spPr>
        <p:txBody>
          <a:bodyPr/>
          <a:lstStyle/>
          <a:p>
            <a:endParaRPr lang="ro-RO"/>
          </a:p>
        </p:txBody>
      </p:sp>
      <p:sp>
        <p:nvSpPr>
          <p:cNvPr id="17" name="Text 15"/>
          <p:cNvSpPr/>
          <p:nvPr/>
        </p:nvSpPr>
        <p:spPr>
          <a:xfrm>
            <a:off x="7306056" y="1472184"/>
            <a:ext cx="1554480" cy="1271016"/>
          </a:xfrm>
          <a:prstGeom prst="rect">
            <a:avLst/>
          </a:prstGeom>
          <a:noFill/>
          <a:ln/>
        </p:spPr>
        <p:txBody>
          <a:bodyPr wrap="square" lIns="0" tIns="0" rIns="0" bIns="0" rtlCol="0" anchor="t"/>
          <a:lstStyle/>
          <a:p>
            <a:pPr marL="0" indent="0" algn="l">
              <a:buNone/>
            </a:pPr>
            <a:r>
              <a:rPr lang="en-US" sz="750" dirty="0">
                <a:solidFill>
                  <a:srgbClr val="00B4D8"/>
                </a:solidFill>
                <a:latin typeface="Consolas" pitchFamily="34" charset="0"/>
                <a:ea typeface="Consolas" pitchFamily="34" charset="-122"/>
                <a:cs typeface="Consolas" pitchFamily="34" charset="-120"/>
              </a:rPr>
              <a:t>IF NEW.sold &lt; 0 THEN</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  SIGNAL SQLSTATE '45000'</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  SET MESSAGE_TEXT =</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  'Fonduri insuficiente!'; </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END IF;</a:t>
            </a:r>
            <a:endParaRPr lang="en-US" sz="750" dirty="0"/>
          </a:p>
        </p:txBody>
      </p:sp>
      <p:sp>
        <p:nvSpPr>
          <p:cNvPr id="18" name="Shape 16"/>
          <p:cNvSpPr/>
          <p:nvPr/>
        </p:nvSpPr>
        <p:spPr>
          <a:xfrm>
            <a:off x="164592" y="2926080"/>
            <a:ext cx="4297680" cy="1920240"/>
          </a:xfrm>
          <a:prstGeom prst="rect">
            <a:avLst/>
          </a:prstGeom>
          <a:solidFill>
            <a:srgbClr val="E8EDF5"/>
          </a:solidFill>
          <a:ln w="12700">
            <a:solidFill>
              <a:srgbClr val="E8EDF5"/>
            </a:solidFill>
            <a:prstDash val="solid"/>
          </a:ln>
        </p:spPr>
        <p:txBody>
          <a:bodyPr/>
          <a:lstStyle/>
          <a:p>
            <a:endParaRPr lang="ro-RO"/>
          </a:p>
        </p:txBody>
      </p:sp>
      <p:sp>
        <p:nvSpPr>
          <p:cNvPr id="19" name="Shape 17"/>
          <p:cNvSpPr/>
          <p:nvPr/>
        </p:nvSpPr>
        <p:spPr>
          <a:xfrm>
            <a:off x="164592" y="2926080"/>
            <a:ext cx="73152" cy="1920240"/>
          </a:xfrm>
          <a:prstGeom prst="rect">
            <a:avLst/>
          </a:prstGeom>
          <a:solidFill>
            <a:srgbClr val="C9A84C"/>
          </a:solidFill>
          <a:ln w="12700">
            <a:solidFill>
              <a:srgbClr val="C9A84C"/>
            </a:solidFill>
            <a:prstDash val="solid"/>
          </a:ln>
        </p:spPr>
        <p:txBody>
          <a:bodyPr/>
          <a:lstStyle/>
          <a:p>
            <a:endParaRPr lang="ro-RO"/>
          </a:p>
        </p:txBody>
      </p:sp>
      <p:sp>
        <p:nvSpPr>
          <p:cNvPr id="20" name="Text 18"/>
          <p:cNvSpPr/>
          <p:nvPr/>
        </p:nvSpPr>
        <p:spPr>
          <a:xfrm>
            <a:off x="329184" y="2971800"/>
            <a:ext cx="4023360" cy="27432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dupa_update_sold</a:t>
            </a:r>
            <a:endParaRPr lang="en-US" sz="1200" dirty="0"/>
          </a:p>
        </p:txBody>
      </p:sp>
      <p:sp>
        <p:nvSpPr>
          <p:cNvPr id="21" name="Text 19"/>
          <p:cNvSpPr/>
          <p:nvPr/>
        </p:nvSpPr>
        <p:spPr>
          <a:xfrm>
            <a:off x="329184" y="3246120"/>
            <a:ext cx="4023360" cy="201168"/>
          </a:xfrm>
          <a:prstGeom prst="rect">
            <a:avLst/>
          </a:prstGeom>
          <a:noFill/>
          <a:ln/>
        </p:spPr>
        <p:txBody>
          <a:bodyPr wrap="square" lIns="0" tIns="0" rIns="0" bIns="0" rtlCol="0" anchor="ctr"/>
          <a:lstStyle/>
          <a:p>
            <a:pPr marL="0" indent="0">
              <a:buNone/>
            </a:pPr>
            <a:r>
              <a:rPr lang="en-US" sz="1000" i="1" dirty="0">
                <a:solidFill>
                  <a:srgbClr val="C9A84C"/>
                </a:solidFill>
                <a:latin typeface="Calibri" pitchFamily="34" charset="0"/>
                <a:ea typeface="Calibri" pitchFamily="34" charset="-122"/>
                <a:cs typeface="Calibri" pitchFamily="34" charset="-120"/>
              </a:rPr>
              <a:t>AFTER UPDATE ON conturi</a:t>
            </a:r>
            <a:endParaRPr lang="en-US" sz="1000" dirty="0"/>
          </a:p>
        </p:txBody>
      </p:sp>
      <p:sp>
        <p:nvSpPr>
          <p:cNvPr id="22" name="Text 20"/>
          <p:cNvSpPr/>
          <p:nvPr/>
        </p:nvSpPr>
        <p:spPr>
          <a:xfrm>
            <a:off x="329184" y="3456432"/>
            <a:ext cx="2331720" cy="1325880"/>
          </a:xfrm>
          <a:prstGeom prst="rect">
            <a:avLst/>
          </a:prstGeom>
          <a:noFill/>
          <a:ln/>
        </p:spPr>
        <p:txBody>
          <a:bodyPr wrap="square" lIns="0" tIns="0" rIns="0" bIns="0" rtlCol="0" anchor="t"/>
          <a:lstStyle/>
          <a:p>
            <a:pPr marL="0" indent="0" algn="l">
              <a:buNone/>
            </a:pPr>
            <a:r>
              <a:rPr lang="en-US" sz="1000" dirty="0">
                <a:solidFill>
                  <a:srgbClr val="0A1628"/>
                </a:solidFill>
                <a:latin typeface="Calibri" pitchFamily="34" charset="0"/>
                <a:ea typeface="Calibri" pitchFamily="34" charset="-122"/>
                <a:cs typeface="Calibri" pitchFamily="34" charset="-120"/>
              </a:rPr>
              <a:t>Trigger de audit care înregistrează ORICE modificare a soldului unui cont în tabela audit_solduri</a:t>
            </a:r>
            <a:r>
              <a:rPr lang="en-US" sz="1000">
                <a:solidFill>
                  <a:srgbClr val="0A1628"/>
                </a:solidFill>
                <a:latin typeface="Calibri" pitchFamily="34" charset="0"/>
                <a:ea typeface="Calibri" pitchFamily="34" charset="-122"/>
                <a:cs typeface="Calibri" pitchFamily="34" charset="-120"/>
              </a:rPr>
              <a:t>. Oferă </a:t>
            </a:r>
            <a:r>
              <a:rPr lang="en-US" sz="1000" dirty="0">
                <a:solidFill>
                  <a:srgbClr val="0A1628"/>
                </a:solidFill>
                <a:latin typeface="Calibri" pitchFamily="34" charset="0"/>
                <a:ea typeface="Calibri" pitchFamily="34" charset="-122"/>
                <a:cs typeface="Calibri" pitchFamily="34" charset="-120"/>
              </a:rPr>
              <a:t>un trail complet de audit – se poate reconstitui istoricul complet al unui cont la orice moment de timp.</a:t>
            </a:r>
            <a:endParaRPr lang="en-US" sz="1000" dirty="0"/>
          </a:p>
        </p:txBody>
      </p:sp>
      <p:sp>
        <p:nvSpPr>
          <p:cNvPr id="23" name="Shape 21"/>
          <p:cNvSpPr/>
          <p:nvPr/>
        </p:nvSpPr>
        <p:spPr>
          <a:xfrm>
            <a:off x="2743200" y="3456432"/>
            <a:ext cx="1645920" cy="1325880"/>
          </a:xfrm>
          <a:prstGeom prst="rect">
            <a:avLst/>
          </a:prstGeom>
          <a:solidFill>
            <a:srgbClr val="0A1628"/>
          </a:solidFill>
          <a:ln w="12700">
            <a:solidFill>
              <a:srgbClr val="0A1628"/>
            </a:solidFill>
            <a:prstDash val="solid"/>
          </a:ln>
        </p:spPr>
        <p:txBody>
          <a:bodyPr/>
          <a:lstStyle/>
          <a:p>
            <a:endParaRPr lang="ro-RO"/>
          </a:p>
        </p:txBody>
      </p:sp>
      <p:sp>
        <p:nvSpPr>
          <p:cNvPr id="24" name="Text 22"/>
          <p:cNvSpPr/>
          <p:nvPr/>
        </p:nvSpPr>
        <p:spPr>
          <a:xfrm>
            <a:off x="2798064" y="3483864"/>
            <a:ext cx="1554480" cy="1271016"/>
          </a:xfrm>
          <a:prstGeom prst="rect">
            <a:avLst/>
          </a:prstGeom>
          <a:noFill/>
          <a:ln/>
        </p:spPr>
        <p:txBody>
          <a:bodyPr wrap="square" lIns="0" tIns="0" rIns="0" bIns="0" rtlCol="0" anchor="t"/>
          <a:lstStyle/>
          <a:p>
            <a:pPr marL="0" indent="0" algn="l">
              <a:buNone/>
            </a:pPr>
            <a:r>
              <a:rPr lang="en-US" sz="750" dirty="0">
                <a:solidFill>
                  <a:srgbClr val="00B4D8"/>
                </a:solidFill>
                <a:latin typeface="Consolas" pitchFamily="34" charset="0"/>
                <a:ea typeface="Consolas" pitchFamily="34" charset="-122"/>
                <a:cs typeface="Consolas" pitchFamily="34" charset="-120"/>
              </a:rPr>
              <a:t>IF OLD.sold &lt;&gt; NEW.sold THEN</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  INSERT INTO Audit_Solduri</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  (id_cont, sold_vechi, sold_nou)</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  VALUES</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  (OLD.id_cont, OLD.sold, NEW.sold);</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END IF;</a:t>
            </a:r>
            <a:endParaRPr lang="en-US" sz="750" dirty="0"/>
          </a:p>
        </p:txBody>
      </p:sp>
      <p:sp>
        <p:nvSpPr>
          <p:cNvPr id="25" name="Shape 23"/>
          <p:cNvSpPr/>
          <p:nvPr/>
        </p:nvSpPr>
        <p:spPr>
          <a:xfrm>
            <a:off x="4672584" y="2926080"/>
            <a:ext cx="4297680" cy="1920240"/>
          </a:xfrm>
          <a:prstGeom prst="rect">
            <a:avLst/>
          </a:prstGeom>
          <a:solidFill>
            <a:srgbClr val="E8EDF5"/>
          </a:solidFill>
          <a:ln w="12700">
            <a:solidFill>
              <a:srgbClr val="E8EDF5"/>
            </a:solidFill>
            <a:prstDash val="solid"/>
          </a:ln>
        </p:spPr>
        <p:txBody>
          <a:bodyPr/>
          <a:lstStyle/>
          <a:p>
            <a:endParaRPr lang="ro-RO"/>
          </a:p>
        </p:txBody>
      </p:sp>
      <p:sp>
        <p:nvSpPr>
          <p:cNvPr id="26" name="Shape 24"/>
          <p:cNvSpPr/>
          <p:nvPr/>
        </p:nvSpPr>
        <p:spPr>
          <a:xfrm>
            <a:off x="4672584" y="2926080"/>
            <a:ext cx="73152" cy="1920240"/>
          </a:xfrm>
          <a:prstGeom prst="rect">
            <a:avLst/>
          </a:prstGeom>
          <a:solidFill>
            <a:srgbClr val="00B4D8"/>
          </a:solidFill>
          <a:ln w="12700">
            <a:solidFill>
              <a:srgbClr val="00B4D8"/>
            </a:solidFill>
            <a:prstDash val="solid"/>
          </a:ln>
        </p:spPr>
        <p:txBody>
          <a:bodyPr/>
          <a:lstStyle/>
          <a:p>
            <a:endParaRPr lang="ro-RO"/>
          </a:p>
        </p:txBody>
      </p:sp>
      <p:sp>
        <p:nvSpPr>
          <p:cNvPr id="27" name="Text 25"/>
          <p:cNvSpPr/>
          <p:nvPr/>
        </p:nvSpPr>
        <p:spPr>
          <a:xfrm>
            <a:off x="4837176" y="2971800"/>
            <a:ext cx="4023360" cy="27432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trg_notificare_transfer</a:t>
            </a:r>
            <a:endParaRPr lang="en-US" sz="1200" dirty="0"/>
          </a:p>
        </p:txBody>
      </p:sp>
      <p:sp>
        <p:nvSpPr>
          <p:cNvPr id="28" name="Text 26"/>
          <p:cNvSpPr/>
          <p:nvPr/>
        </p:nvSpPr>
        <p:spPr>
          <a:xfrm>
            <a:off x="4837176" y="3246120"/>
            <a:ext cx="4023360" cy="201168"/>
          </a:xfrm>
          <a:prstGeom prst="rect">
            <a:avLst/>
          </a:prstGeom>
          <a:noFill/>
          <a:ln/>
        </p:spPr>
        <p:txBody>
          <a:bodyPr wrap="square" lIns="0" tIns="0" rIns="0" bIns="0" rtlCol="0" anchor="ctr"/>
          <a:lstStyle/>
          <a:p>
            <a:pPr marL="0" indent="0">
              <a:buNone/>
            </a:pPr>
            <a:r>
              <a:rPr lang="en-US" sz="1000" i="1" dirty="0">
                <a:solidFill>
                  <a:srgbClr val="00B4D8"/>
                </a:solidFill>
                <a:latin typeface="Calibri" pitchFamily="34" charset="0"/>
                <a:ea typeface="Calibri" pitchFamily="34" charset="-122"/>
                <a:cs typeface="Calibri" pitchFamily="34" charset="-120"/>
              </a:rPr>
              <a:t>AFTER INSERT ON transferuri</a:t>
            </a:r>
            <a:endParaRPr lang="en-US" sz="1000" dirty="0"/>
          </a:p>
        </p:txBody>
      </p:sp>
      <p:sp>
        <p:nvSpPr>
          <p:cNvPr id="29" name="Text 27"/>
          <p:cNvSpPr/>
          <p:nvPr/>
        </p:nvSpPr>
        <p:spPr>
          <a:xfrm>
            <a:off x="4837176" y="3456432"/>
            <a:ext cx="2331720" cy="1325880"/>
          </a:xfrm>
          <a:prstGeom prst="rect">
            <a:avLst/>
          </a:prstGeom>
          <a:noFill/>
          <a:ln/>
        </p:spPr>
        <p:txBody>
          <a:bodyPr wrap="square" lIns="0" tIns="0" rIns="0" bIns="0" rtlCol="0" anchor="t"/>
          <a:lstStyle/>
          <a:p>
            <a:pPr marL="0" indent="0" algn="l">
              <a:buNone/>
            </a:pPr>
            <a:r>
              <a:rPr lang="en-US" sz="1000" dirty="0">
                <a:solidFill>
                  <a:srgbClr val="0A1628"/>
                </a:solidFill>
                <a:latin typeface="Calibri" pitchFamily="34" charset="0"/>
                <a:ea typeface="Calibri" pitchFamily="34" charset="-122"/>
                <a:cs typeface="Calibri" pitchFamily="34" charset="-120"/>
              </a:rPr>
              <a:t>Generează automat o notificare pentru clientul destinatar la fiecare transfer primit. JOIN-ul determină numele expeditorului din detalii_pf/detalii_pj. Mesajul </a:t>
            </a:r>
            <a:r>
              <a:rPr lang="en-US" sz="1000">
                <a:solidFill>
                  <a:srgbClr val="0A1628"/>
                </a:solidFill>
                <a:latin typeface="Calibri" pitchFamily="34" charset="0"/>
                <a:ea typeface="Calibri" pitchFamily="34" charset="-122"/>
                <a:cs typeface="Calibri" pitchFamily="34" charset="-120"/>
              </a:rPr>
              <a:t>compus este </a:t>
            </a:r>
            <a:r>
              <a:rPr lang="en-US" sz="1000" dirty="0">
                <a:solidFill>
                  <a:srgbClr val="0A1628"/>
                </a:solidFill>
                <a:latin typeface="Calibri" pitchFamily="34" charset="0"/>
                <a:ea typeface="Calibri" pitchFamily="34" charset="-122"/>
                <a:cs typeface="Calibri" pitchFamily="34" charset="-120"/>
              </a:rPr>
              <a:t>inserat direct în tabela notificari, fără intervenție aplicație.</a:t>
            </a:r>
            <a:endParaRPr lang="en-US" sz="1000" dirty="0"/>
          </a:p>
        </p:txBody>
      </p:sp>
      <p:sp>
        <p:nvSpPr>
          <p:cNvPr id="30" name="Shape 28"/>
          <p:cNvSpPr/>
          <p:nvPr/>
        </p:nvSpPr>
        <p:spPr>
          <a:xfrm>
            <a:off x="7251192" y="3456432"/>
            <a:ext cx="1645920" cy="1325880"/>
          </a:xfrm>
          <a:prstGeom prst="rect">
            <a:avLst/>
          </a:prstGeom>
          <a:solidFill>
            <a:srgbClr val="0A1628"/>
          </a:solidFill>
          <a:ln w="12700">
            <a:solidFill>
              <a:srgbClr val="0A1628"/>
            </a:solidFill>
            <a:prstDash val="solid"/>
          </a:ln>
        </p:spPr>
        <p:txBody>
          <a:bodyPr/>
          <a:lstStyle/>
          <a:p>
            <a:endParaRPr lang="ro-RO"/>
          </a:p>
        </p:txBody>
      </p:sp>
      <p:sp>
        <p:nvSpPr>
          <p:cNvPr id="31" name="Text 29"/>
          <p:cNvSpPr/>
          <p:nvPr/>
        </p:nvSpPr>
        <p:spPr>
          <a:xfrm>
            <a:off x="7306056" y="3483864"/>
            <a:ext cx="1554480" cy="1271016"/>
          </a:xfrm>
          <a:prstGeom prst="rect">
            <a:avLst/>
          </a:prstGeom>
          <a:noFill/>
          <a:ln/>
        </p:spPr>
        <p:txBody>
          <a:bodyPr wrap="square" lIns="0" tIns="0" rIns="0" bIns="0" rtlCol="0" anchor="t"/>
          <a:lstStyle/>
          <a:p>
            <a:pPr marL="0" indent="0" algn="l">
              <a:buNone/>
            </a:pPr>
            <a:r>
              <a:rPr lang="en-US" sz="750" dirty="0">
                <a:solidFill>
                  <a:srgbClr val="00B4D8"/>
                </a:solidFill>
                <a:latin typeface="Consolas" pitchFamily="34" charset="0"/>
                <a:ea typeface="Consolas" pitchFamily="34" charset="-122"/>
                <a:cs typeface="Consolas" pitchFamily="34" charset="-120"/>
              </a:rPr>
              <a:t>SELECT id_client INTO v_dest</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  FROM conturi WHERE id_cont =</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  NEW.id_cont_destinatie;</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INSERT INTO notificari</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  (id_client, titlu, mesaj)</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VALUES (v_dest, 'Transfer primit',</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  CONCAT(expeditor, ' ',</a:t>
            </a:r>
            <a:endParaRPr lang="en-US" sz="750" dirty="0"/>
          </a:p>
          <a:p>
            <a:pPr marL="0" indent="0" algn="l">
              <a:buNone/>
            </a:pPr>
            <a:r>
              <a:rPr lang="en-US" sz="750" dirty="0">
                <a:solidFill>
                  <a:srgbClr val="00B4D8"/>
                </a:solidFill>
                <a:latin typeface="Consolas" pitchFamily="34" charset="0"/>
                <a:ea typeface="Consolas" pitchFamily="34" charset="-122"/>
                <a:cs typeface="Consolas" pitchFamily="34" charset="-120"/>
              </a:rPr>
              <a:t>  NEW.suma, ' RON'));</a:t>
            </a:r>
            <a:endParaRPr lang="en-US" sz="750" dirty="0"/>
          </a:p>
        </p:txBody>
      </p:sp>
      <p:sp>
        <p:nvSpPr>
          <p:cNvPr id="32" name="Shape 30"/>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ro-RO"/>
          </a:p>
        </p:txBody>
      </p:sp>
      <p:sp>
        <p:nvSpPr>
          <p:cNvPr id="33" name="Text 31"/>
          <p:cNvSpPr/>
          <p:nvPr/>
        </p:nvSpPr>
        <p:spPr>
          <a:xfrm>
            <a:off x="274320" y="4892040"/>
            <a:ext cx="8595360" cy="251460"/>
          </a:xfrm>
          <a:prstGeom prst="rect">
            <a:avLst/>
          </a:prstGeom>
          <a:noFill/>
          <a:ln/>
        </p:spPr>
        <p:txBody>
          <a:bodyPr wrap="square" lIns="0" tIns="0" rIns="0" bIns="0" rtlCol="0" anchor="ctr"/>
          <a:lstStyle/>
          <a:p>
            <a:pPr marL="0" indent="0">
              <a:buNone/>
            </a:pPr>
            <a:r>
              <a:rPr lang="en-US" sz="1000" dirty="0">
                <a:solidFill>
                  <a:srgbClr val="8FA3BF"/>
                </a:solidFill>
                <a:latin typeface="Calibri" pitchFamily="34" charset="0"/>
                <a:ea typeface="Calibri" pitchFamily="34" charset="-122"/>
                <a:cs typeface="Calibri" pitchFamily="34" charset="-120"/>
              </a:rPr>
              <a:t>Proiect 9 — Sistem Bancar Simplificat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ro-RO"/>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Proceduri Stocate &amp; View-uri</a:t>
            </a:r>
            <a:endParaRPr lang="en-US" sz="2600" dirty="0"/>
          </a:p>
        </p:txBody>
      </p:sp>
      <p:sp>
        <p:nvSpPr>
          <p:cNvPr id="4" name="Text 2"/>
          <p:cNvSpPr/>
          <p:nvPr/>
        </p:nvSpPr>
        <p:spPr>
          <a:xfrm>
            <a:off x="320040" y="960120"/>
            <a:ext cx="4114800" cy="365760"/>
          </a:xfrm>
          <a:prstGeom prst="rect">
            <a:avLst/>
          </a:prstGeom>
          <a:noFill/>
          <a:ln/>
        </p:spPr>
        <p:txBody>
          <a:bodyPr wrap="square" lIns="0" tIns="0" rIns="0" bIns="0" rtlCol="0" anchor="ctr"/>
          <a:lstStyle/>
          <a:p>
            <a:pPr marL="0" indent="0">
              <a:buNone/>
            </a:pPr>
            <a:r>
              <a:rPr lang="en-US" sz="1600" b="1" dirty="0">
                <a:solidFill>
                  <a:srgbClr val="0A1628"/>
                </a:solidFill>
                <a:latin typeface="Calibri" pitchFamily="34" charset="0"/>
                <a:ea typeface="Calibri" pitchFamily="34" charset="-122"/>
                <a:cs typeface="Calibri" pitchFamily="34" charset="-120"/>
              </a:rPr>
              <a:t>Proceduri Stocate</a:t>
            </a:r>
            <a:endParaRPr lang="en-US" sz="1600" dirty="0"/>
          </a:p>
        </p:txBody>
      </p:sp>
      <p:sp>
        <p:nvSpPr>
          <p:cNvPr id="5" name="Shape 3"/>
          <p:cNvSpPr/>
          <p:nvPr/>
        </p:nvSpPr>
        <p:spPr>
          <a:xfrm>
            <a:off x="320040" y="1371600"/>
            <a:ext cx="4114800" cy="1691640"/>
          </a:xfrm>
          <a:prstGeom prst="rect">
            <a:avLst/>
          </a:prstGeom>
          <a:solidFill>
            <a:srgbClr val="E8EDF5"/>
          </a:solidFill>
          <a:ln w="12700">
            <a:solidFill>
              <a:srgbClr val="E8EDF5"/>
            </a:solidFill>
            <a:prstDash val="solid"/>
          </a:ln>
        </p:spPr>
        <p:txBody>
          <a:bodyPr/>
          <a:lstStyle/>
          <a:p>
            <a:endParaRPr lang="ro-RO"/>
          </a:p>
        </p:txBody>
      </p:sp>
      <p:sp>
        <p:nvSpPr>
          <p:cNvPr id="6" name="Text 4"/>
          <p:cNvSpPr/>
          <p:nvPr/>
        </p:nvSpPr>
        <p:spPr>
          <a:xfrm>
            <a:off x="457200" y="1417320"/>
            <a:ext cx="3840480" cy="32004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EfectueazaTransfer(iban_sursa, iban_dest, suma, motiv)</a:t>
            </a:r>
            <a:endParaRPr lang="en-US" sz="1100" dirty="0"/>
          </a:p>
        </p:txBody>
      </p:sp>
      <p:sp>
        <p:nvSpPr>
          <p:cNvPr id="7" name="Text 5"/>
          <p:cNvSpPr/>
          <p:nvPr/>
        </p:nvSpPr>
        <p:spPr>
          <a:xfrm>
            <a:off x="457200" y="1755648"/>
            <a:ext cx="3840480" cy="1234440"/>
          </a:xfrm>
          <a:prstGeom prst="rect">
            <a:avLst/>
          </a:prstGeom>
          <a:noFill/>
          <a:ln/>
        </p:spPr>
        <p:txBody>
          <a:bodyPr wrap="square" lIns="0" tIns="0" rIns="0" bIns="0" rtlCol="0" anchor="t"/>
          <a:lstStyle/>
          <a:p>
            <a:r>
              <a:rPr lang="ro-RO" sz="1100"/>
              <a:t>Procedură stocată ce garantează atomicitatea transferului. Primește 4 parametrii, validează IBAN-urile și limitele minime valutare, apoi securizează conturile concurente prin SELECT ... FOR UPDATE. Înregistrează transferul și tranzacțiile de debite/credite, lăsând actualizarea automată a soldurilor în seama trigge</a:t>
            </a:r>
            <a:r>
              <a:rPr lang="en-US" sz="1100"/>
              <a:t>relor</a:t>
            </a:r>
            <a:r>
              <a:rPr lang="ro-RO" sz="1100"/>
              <a:t>. Orice eroare execută ROLLBACK prin EXIT HANDLER.</a:t>
            </a:r>
            <a:endParaRPr lang="en-US" sz="1100" dirty="0"/>
          </a:p>
        </p:txBody>
      </p:sp>
      <p:sp>
        <p:nvSpPr>
          <p:cNvPr id="8" name="Shape 6"/>
          <p:cNvSpPr/>
          <p:nvPr/>
        </p:nvSpPr>
        <p:spPr>
          <a:xfrm>
            <a:off x="320040" y="3154680"/>
            <a:ext cx="4114800" cy="1508760"/>
          </a:xfrm>
          <a:prstGeom prst="rect">
            <a:avLst/>
          </a:prstGeom>
          <a:solidFill>
            <a:srgbClr val="E8EDF5"/>
          </a:solidFill>
          <a:ln w="12700">
            <a:solidFill>
              <a:srgbClr val="E8EDF5"/>
            </a:solidFill>
            <a:prstDash val="solid"/>
          </a:ln>
        </p:spPr>
        <p:txBody>
          <a:bodyPr/>
          <a:lstStyle/>
          <a:p>
            <a:endParaRPr lang="ro-RO"/>
          </a:p>
        </p:txBody>
      </p:sp>
      <p:sp>
        <p:nvSpPr>
          <p:cNvPr id="9" name="Text 7"/>
          <p:cNvSpPr/>
          <p:nvPr/>
        </p:nvSpPr>
        <p:spPr>
          <a:xfrm>
            <a:off x="457200" y="3200400"/>
            <a:ext cx="3840480" cy="32004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GenereazaExtras(iban, data_start, data_end)</a:t>
            </a:r>
            <a:endParaRPr lang="en-US" sz="1100" dirty="0"/>
          </a:p>
        </p:txBody>
      </p:sp>
      <p:sp>
        <p:nvSpPr>
          <p:cNvPr id="10" name="Text 8"/>
          <p:cNvSpPr/>
          <p:nvPr/>
        </p:nvSpPr>
        <p:spPr>
          <a:xfrm>
            <a:off x="457200" y="3538728"/>
            <a:ext cx="3840480" cy="1078992"/>
          </a:xfrm>
          <a:prstGeom prst="rect">
            <a:avLst/>
          </a:prstGeom>
          <a:noFill/>
          <a:ln/>
        </p:spPr>
        <p:txBody>
          <a:bodyPr wrap="square" lIns="0" tIns="0" rIns="0" bIns="0" rtlCol="0" anchor="t"/>
          <a:lstStyle/>
          <a:p>
            <a:pPr marL="0" indent="0" algn="l">
              <a:buNone/>
            </a:pPr>
            <a:r>
              <a:rPr lang="en-US" sz="1100" dirty="0">
                <a:solidFill>
                  <a:srgbClr val="0A1628"/>
                </a:solidFill>
                <a:latin typeface="Calibri" pitchFamily="34" charset="0"/>
                <a:ea typeface="Calibri" pitchFamily="34" charset="-122"/>
                <a:cs typeface="Calibri" pitchFamily="34" charset="-120"/>
              </a:rPr>
              <a:t>Generează extrasul de cont pentru un IBAN și un interval de date. Inserează un rând în extrasecont cu soldul curent, apoi returnează un SELECT cu toate tranzacțiile din interval ordonate cronologic descrescător, înlocuind valorile NULL cu mesaje descriptive.</a:t>
            </a:r>
            <a:endParaRPr lang="en-US" sz="1100" dirty="0"/>
          </a:p>
        </p:txBody>
      </p:sp>
      <p:sp>
        <p:nvSpPr>
          <p:cNvPr id="11" name="Text 9"/>
          <p:cNvSpPr/>
          <p:nvPr/>
        </p:nvSpPr>
        <p:spPr>
          <a:xfrm>
            <a:off x="4754880" y="960120"/>
            <a:ext cx="4114800" cy="365760"/>
          </a:xfrm>
          <a:prstGeom prst="rect">
            <a:avLst/>
          </a:prstGeom>
          <a:noFill/>
          <a:ln/>
        </p:spPr>
        <p:txBody>
          <a:bodyPr wrap="square" lIns="0" tIns="0" rIns="0" bIns="0" rtlCol="0" anchor="ctr"/>
          <a:lstStyle/>
          <a:p>
            <a:pPr marL="0" indent="0">
              <a:buNone/>
            </a:pPr>
            <a:r>
              <a:rPr lang="en-US" sz="1600" b="1" dirty="0">
                <a:solidFill>
                  <a:srgbClr val="0A1628"/>
                </a:solidFill>
                <a:latin typeface="Calibri" pitchFamily="34" charset="0"/>
                <a:ea typeface="Calibri" pitchFamily="34" charset="-122"/>
                <a:cs typeface="Calibri" pitchFamily="34" charset="-120"/>
              </a:rPr>
              <a:t>View-uri</a:t>
            </a:r>
            <a:endParaRPr lang="en-US" sz="1600" dirty="0"/>
          </a:p>
        </p:txBody>
      </p:sp>
      <p:sp>
        <p:nvSpPr>
          <p:cNvPr id="12" name="Shape 10"/>
          <p:cNvSpPr/>
          <p:nvPr/>
        </p:nvSpPr>
        <p:spPr>
          <a:xfrm>
            <a:off x="4754880" y="1371600"/>
            <a:ext cx="4114800" cy="640080"/>
          </a:xfrm>
          <a:prstGeom prst="rect">
            <a:avLst/>
          </a:prstGeom>
          <a:solidFill>
            <a:srgbClr val="E8EDF5"/>
          </a:solidFill>
          <a:ln w="12700">
            <a:solidFill>
              <a:srgbClr val="E8EDF5"/>
            </a:solidFill>
            <a:prstDash val="solid"/>
          </a:ln>
        </p:spPr>
        <p:txBody>
          <a:bodyPr/>
          <a:lstStyle/>
          <a:p>
            <a:endParaRPr lang="ro-RO"/>
          </a:p>
        </p:txBody>
      </p:sp>
      <p:sp>
        <p:nvSpPr>
          <p:cNvPr id="13" name="Shape 11"/>
          <p:cNvSpPr/>
          <p:nvPr/>
        </p:nvSpPr>
        <p:spPr>
          <a:xfrm>
            <a:off x="4754880" y="1371600"/>
            <a:ext cx="54864" cy="640080"/>
          </a:xfrm>
          <a:prstGeom prst="rect">
            <a:avLst/>
          </a:prstGeom>
          <a:solidFill>
            <a:srgbClr val="C9A84C"/>
          </a:solidFill>
          <a:ln w="12700">
            <a:solidFill>
              <a:srgbClr val="C9A84C"/>
            </a:solidFill>
            <a:prstDash val="solid"/>
          </a:ln>
        </p:spPr>
        <p:txBody>
          <a:bodyPr/>
          <a:lstStyle/>
          <a:p>
            <a:endParaRPr lang="ro-RO"/>
          </a:p>
        </p:txBody>
      </p:sp>
      <p:sp>
        <p:nvSpPr>
          <p:cNvPr id="14" name="Text 12"/>
          <p:cNvSpPr/>
          <p:nvPr/>
        </p:nvSpPr>
        <p:spPr>
          <a:xfrm>
            <a:off x="4919472" y="1389888"/>
            <a:ext cx="3840480" cy="22860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v_detalii_clienti</a:t>
            </a:r>
            <a:endParaRPr lang="en-US" sz="1100" dirty="0"/>
          </a:p>
        </p:txBody>
      </p:sp>
      <p:sp>
        <p:nvSpPr>
          <p:cNvPr id="15" name="Text 13"/>
          <p:cNvSpPr/>
          <p:nvPr/>
        </p:nvSpPr>
        <p:spPr>
          <a:xfrm>
            <a:off x="4919472" y="1609344"/>
            <a:ext cx="3840480" cy="365760"/>
          </a:xfrm>
          <a:prstGeom prst="rect">
            <a:avLst/>
          </a:prstGeom>
          <a:noFill/>
          <a:ln/>
        </p:spPr>
        <p:txBody>
          <a:bodyPr wrap="square" lIns="0" tIns="0" rIns="0" bIns="0" rtlCol="0" anchor="ctr"/>
          <a:lstStyle/>
          <a:p>
            <a:pPr marL="0" indent="0">
              <a:buNone/>
            </a:pPr>
            <a:r>
              <a:rPr lang="en-US" sz="950" dirty="0">
                <a:solidFill>
                  <a:srgbClr val="0A1628"/>
                </a:solidFill>
                <a:latin typeface="Calibri" pitchFamily="34" charset="0"/>
                <a:ea typeface="Calibri" pitchFamily="34" charset="-122"/>
                <a:cs typeface="Calibri" pitchFamily="34" charset="-120"/>
              </a:rPr>
              <a:t>Reunește clienti cu detalii_pf și detalii_pj printr-un CASE WHEN, returnând un câmp unificat nume_titular și cod_identificare (CNP sau CUI) indiferent de tipul clientului.</a:t>
            </a:r>
            <a:endParaRPr lang="en-US" sz="950" dirty="0"/>
          </a:p>
        </p:txBody>
      </p:sp>
      <p:sp>
        <p:nvSpPr>
          <p:cNvPr id="16" name="Shape 14"/>
          <p:cNvSpPr/>
          <p:nvPr/>
        </p:nvSpPr>
        <p:spPr>
          <a:xfrm>
            <a:off x="4754880" y="2075688"/>
            <a:ext cx="4114800" cy="640080"/>
          </a:xfrm>
          <a:prstGeom prst="rect">
            <a:avLst/>
          </a:prstGeom>
          <a:solidFill>
            <a:srgbClr val="E8EDF5"/>
          </a:solidFill>
          <a:ln w="12700">
            <a:solidFill>
              <a:srgbClr val="E8EDF5"/>
            </a:solidFill>
            <a:prstDash val="solid"/>
          </a:ln>
        </p:spPr>
        <p:txBody>
          <a:bodyPr/>
          <a:lstStyle/>
          <a:p>
            <a:endParaRPr lang="ro-RO"/>
          </a:p>
        </p:txBody>
      </p:sp>
      <p:sp>
        <p:nvSpPr>
          <p:cNvPr id="17" name="Shape 15"/>
          <p:cNvSpPr/>
          <p:nvPr/>
        </p:nvSpPr>
        <p:spPr>
          <a:xfrm>
            <a:off x="4754880" y="2075688"/>
            <a:ext cx="54864" cy="640080"/>
          </a:xfrm>
          <a:prstGeom prst="rect">
            <a:avLst/>
          </a:prstGeom>
          <a:solidFill>
            <a:srgbClr val="C9A84C"/>
          </a:solidFill>
          <a:ln w="12700">
            <a:solidFill>
              <a:srgbClr val="C9A84C"/>
            </a:solidFill>
            <a:prstDash val="solid"/>
          </a:ln>
        </p:spPr>
        <p:txBody>
          <a:bodyPr/>
          <a:lstStyle/>
          <a:p>
            <a:endParaRPr lang="ro-RO"/>
          </a:p>
        </p:txBody>
      </p:sp>
      <p:sp>
        <p:nvSpPr>
          <p:cNvPr id="18" name="Text 16"/>
          <p:cNvSpPr/>
          <p:nvPr/>
        </p:nvSpPr>
        <p:spPr>
          <a:xfrm>
            <a:off x="4919472" y="2093976"/>
            <a:ext cx="3840480" cy="22860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v_dashboard_conturi</a:t>
            </a:r>
            <a:endParaRPr lang="en-US" sz="1100" dirty="0"/>
          </a:p>
        </p:txBody>
      </p:sp>
      <p:sp>
        <p:nvSpPr>
          <p:cNvPr id="19" name="Text 17"/>
          <p:cNvSpPr/>
          <p:nvPr/>
        </p:nvSpPr>
        <p:spPr>
          <a:xfrm>
            <a:off x="4919472" y="2313432"/>
            <a:ext cx="3840480" cy="365760"/>
          </a:xfrm>
          <a:prstGeom prst="rect">
            <a:avLst/>
          </a:prstGeom>
          <a:noFill/>
          <a:ln/>
        </p:spPr>
        <p:txBody>
          <a:bodyPr wrap="square" lIns="0" tIns="0" rIns="0" bIns="0" rtlCol="0" anchor="ctr"/>
          <a:lstStyle/>
          <a:p>
            <a:pPr marL="0" indent="0">
              <a:buNone/>
            </a:pPr>
            <a:r>
              <a:rPr lang="en-US" sz="950" dirty="0">
                <a:solidFill>
                  <a:srgbClr val="0A1628"/>
                </a:solidFill>
                <a:latin typeface="Calibri" pitchFamily="34" charset="0"/>
                <a:ea typeface="Calibri" pitchFamily="34" charset="-122"/>
                <a:cs typeface="Calibri" pitchFamily="34" charset="-120"/>
              </a:rPr>
              <a:t>JOIN triplu: v_detalii_clienti + conturi + tipuricont. Returnează un rând complet per cont: numele titularului, IBAN, sold, monedă, tip produs, status. Folosit de interfața principală.</a:t>
            </a:r>
            <a:endParaRPr lang="en-US" sz="950" dirty="0"/>
          </a:p>
        </p:txBody>
      </p:sp>
      <p:sp>
        <p:nvSpPr>
          <p:cNvPr id="20" name="Shape 18"/>
          <p:cNvSpPr/>
          <p:nvPr/>
        </p:nvSpPr>
        <p:spPr>
          <a:xfrm>
            <a:off x="4754880" y="2779776"/>
            <a:ext cx="4114800" cy="640080"/>
          </a:xfrm>
          <a:prstGeom prst="rect">
            <a:avLst/>
          </a:prstGeom>
          <a:solidFill>
            <a:srgbClr val="E8EDF5"/>
          </a:solidFill>
          <a:ln w="12700">
            <a:solidFill>
              <a:srgbClr val="E8EDF5"/>
            </a:solidFill>
            <a:prstDash val="solid"/>
          </a:ln>
        </p:spPr>
        <p:txBody>
          <a:bodyPr/>
          <a:lstStyle/>
          <a:p>
            <a:endParaRPr lang="ro-RO"/>
          </a:p>
        </p:txBody>
      </p:sp>
      <p:sp>
        <p:nvSpPr>
          <p:cNvPr id="21" name="Shape 19"/>
          <p:cNvSpPr/>
          <p:nvPr/>
        </p:nvSpPr>
        <p:spPr>
          <a:xfrm>
            <a:off x="4754880" y="2779776"/>
            <a:ext cx="54864" cy="640080"/>
          </a:xfrm>
          <a:prstGeom prst="rect">
            <a:avLst/>
          </a:prstGeom>
          <a:solidFill>
            <a:srgbClr val="C9A84C"/>
          </a:solidFill>
          <a:ln w="12700">
            <a:solidFill>
              <a:srgbClr val="C9A84C"/>
            </a:solidFill>
            <a:prstDash val="solid"/>
          </a:ln>
        </p:spPr>
        <p:txBody>
          <a:bodyPr/>
          <a:lstStyle/>
          <a:p>
            <a:endParaRPr lang="ro-RO"/>
          </a:p>
        </p:txBody>
      </p:sp>
      <p:sp>
        <p:nvSpPr>
          <p:cNvPr id="22" name="Text 20"/>
          <p:cNvSpPr/>
          <p:nvPr/>
        </p:nvSpPr>
        <p:spPr>
          <a:xfrm>
            <a:off x="4919472" y="2798064"/>
            <a:ext cx="3840480" cy="22860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v_istoric_tranzactii</a:t>
            </a:r>
            <a:endParaRPr lang="en-US" sz="1100" dirty="0"/>
          </a:p>
        </p:txBody>
      </p:sp>
      <p:sp>
        <p:nvSpPr>
          <p:cNvPr id="23" name="Text 21"/>
          <p:cNvSpPr/>
          <p:nvPr/>
        </p:nvSpPr>
        <p:spPr>
          <a:xfrm>
            <a:off x="4919472" y="3017520"/>
            <a:ext cx="3840480" cy="365760"/>
          </a:xfrm>
          <a:prstGeom prst="rect">
            <a:avLst/>
          </a:prstGeom>
          <a:noFill/>
          <a:ln/>
        </p:spPr>
        <p:txBody>
          <a:bodyPr wrap="square" lIns="0" tIns="0" rIns="0" bIns="0" rtlCol="0" anchor="ctr"/>
          <a:lstStyle/>
          <a:p>
            <a:pPr marL="0" indent="0">
              <a:buNone/>
            </a:pPr>
            <a:r>
              <a:rPr lang="en-US" sz="950" dirty="0">
                <a:solidFill>
                  <a:srgbClr val="0A1628"/>
                </a:solidFill>
                <a:latin typeface="Calibri" pitchFamily="34" charset="0"/>
                <a:ea typeface="Calibri" pitchFamily="34" charset="-122"/>
                <a:cs typeface="Calibri" pitchFamily="34" charset="-120"/>
              </a:rPr>
              <a:t>Adaugă câmpul calculat 'entitate' care caută beneficiarul salvat din tabela beneficiari folosind un subquery corelat, sau returnează 'Plata/Transfer'.</a:t>
            </a:r>
            <a:endParaRPr lang="en-US" sz="950" dirty="0"/>
          </a:p>
        </p:txBody>
      </p:sp>
      <p:sp>
        <p:nvSpPr>
          <p:cNvPr id="24" name="Shape 22"/>
          <p:cNvSpPr/>
          <p:nvPr/>
        </p:nvSpPr>
        <p:spPr>
          <a:xfrm>
            <a:off x="4754880" y="3483864"/>
            <a:ext cx="4114800" cy="640080"/>
          </a:xfrm>
          <a:prstGeom prst="rect">
            <a:avLst/>
          </a:prstGeom>
          <a:solidFill>
            <a:srgbClr val="E8EDF5"/>
          </a:solidFill>
          <a:ln w="12700">
            <a:solidFill>
              <a:srgbClr val="E8EDF5"/>
            </a:solidFill>
            <a:prstDash val="solid"/>
          </a:ln>
        </p:spPr>
        <p:txBody>
          <a:bodyPr/>
          <a:lstStyle/>
          <a:p>
            <a:endParaRPr lang="ro-RO"/>
          </a:p>
        </p:txBody>
      </p:sp>
      <p:sp>
        <p:nvSpPr>
          <p:cNvPr id="25" name="Shape 23"/>
          <p:cNvSpPr/>
          <p:nvPr/>
        </p:nvSpPr>
        <p:spPr>
          <a:xfrm>
            <a:off x="4754880" y="3483864"/>
            <a:ext cx="54864" cy="640080"/>
          </a:xfrm>
          <a:prstGeom prst="rect">
            <a:avLst/>
          </a:prstGeom>
          <a:solidFill>
            <a:srgbClr val="C9A84C"/>
          </a:solidFill>
          <a:ln w="12700">
            <a:solidFill>
              <a:srgbClr val="C9A84C"/>
            </a:solidFill>
            <a:prstDash val="solid"/>
          </a:ln>
        </p:spPr>
        <p:txBody>
          <a:bodyPr/>
          <a:lstStyle/>
          <a:p>
            <a:endParaRPr lang="ro-RO"/>
          </a:p>
        </p:txBody>
      </p:sp>
      <p:sp>
        <p:nvSpPr>
          <p:cNvPr id="26" name="Text 24"/>
          <p:cNvSpPr/>
          <p:nvPr/>
        </p:nvSpPr>
        <p:spPr>
          <a:xfrm>
            <a:off x="4919472" y="3502152"/>
            <a:ext cx="3840480" cy="22860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v_alerte_frauda</a:t>
            </a:r>
            <a:endParaRPr lang="en-US" sz="1100" dirty="0"/>
          </a:p>
        </p:txBody>
      </p:sp>
      <p:sp>
        <p:nvSpPr>
          <p:cNvPr id="27" name="Text 25"/>
          <p:cNvSpPr/>
          <p:nvPr/>
        </p:nvSpPr>
        <p:spPr>
          <a:xfrm>
            <a:off x="4919472" y="3721608"/>
            <a:ext cx="3840480" cy="365760"/>
          </a:xfrm>
          <a:prstGeom prst="rect">
            <a:avLst/>
          </a:prstGeom>
          <a:noFill/>
          <a:ln/>
        </p:spPr>
        <p:txBody>
          <a:bodyPr wrap="square" lIns="0" tIns="0" rIns="0" bIns="0" rtlCol="0" anchor="ctr"/>
          <a:lstStyle/>
          <a:p>
            <a:pPr marL="0" indent="0">
              <a:buNone/>
            </a:pPr>
            <a:r>
              <a:rPr lang="en-US" sz="950" dirty="0">
                <a:solidFill>
                  <a:srgbClr val="0A1628"/>
                </a:solidFill>
                <a:latin typeface="Calibri" pitchFamily="34" charset="0"/>
                <a:ea typeface="Calibri" pitchFamily="34" charset="-122"/>
                <a:cs typeface="Calibri" pitchFamily="34" charset="-120"/>
              </a:rPr>
              <a:t>Detectează tranzacții suspecte prin CASE: suma &gt; 5000 RON → 'Suma Neobisnuit de Mare'; frecvență &gt; 10 transferuri/zi → 'Frecventa Ridicata (Posibil Atac)'. Fiecare transfer primește un status_risc.</a:t>
            </a:r>
            <a:endParaRPr lang="en-US" sz="950" dirty="0"/>
          </a:p>
        </p:txBody>
      </p:sp>
      <p:sp>
        <p:nvSpPr>
          <p:cNvPr id="28" name="Shape 26"/>
          <p:cNvSpPr/>
          <p:nvPr/>
        </p:nvSpPr>
        <p:spPr>
          <a:xfrm>
            <a:off x="4754880" y="4187952"/>
            <a:ext cx="4114800" cy="640080"/>
          </a:xfrm>
          <a:prstGeom prst="rect">
            <a:avLst/>
          </a:prstGeom>
          <a:solidFill>
            <a:srgbClr val="E8EDF5"/>
          </a:solidFill>
          <a:ln w="12700">
            <a:solidFill>
              <a:srgbClr val="E8EDF5"/>
            </a:solidFill>
            <a:prstDash val="solid"/>
          </a:ln>
        </p:spPr>
        <p:txBody>
          <a:bodyPr/>
          <a:lstStyle/>
          <a:p>
            <a:endParaRPr lang="ro-RO"/>
          </a:p>
        </p:txBody>
      </p:sp>
      <p:sp>
        <p:nvSpPr>
          <p:cNvPr id="29" name="Shape 27"/>
          <p:cNvSpPr/>
          <p:nvPr/>
        </p:nvSpPr>
        <p:spPr>
          <a:xfrm>
            <a:off x="4754880" y="4187952"/>
            <a:ext cx="54864" cy="640080"/>
          </a:xfrm>
          <a:prstGeom prst="rect">
            <a:avLst/>
          </a:prstGeom>
          <a:solidFill>
            <a:srgbClr val="C9A84C"/>
          </a:solidFill>
          <a:ln w="12700">
            <a:solidFill>
              <a:srgbClr val="C9A84C"/>
            </a:solidFill>
            <a:prstDash val="solid"/>
          </a:ln>
        </p:spPr>
        <p:txBody>
          <a:bodyPr/>
          <a:lstStyle/>
          <a:p>
            <a:endParaRPr lang="ro-RO"/>
          </a:p>
        </p:txBody>
      </p:sp>
      <p:sp>
        <p:nvSpPr>
          <p:cNvPr id="30" name="Text 28"/>
          <p:cNvSpPr/>
          <p:nvPr/>
        </p:nvSpPr>
        <p:spPr>
          <a:xfrm>
            <a:off x="4919472" y="4206240"/>
            <a:ext cx="3840480" cy="22860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v_tranzactii_suspecte</a:t>
            </a:r>
            <a:endParaRPr lang="en-US" sz="1100" dirty="0"/>
          </a:p>
        </p:txBody>
      </p:sp>
      <p:sp>
        <p:nvSpPr>
          <p:cNvPr id="31" name="Text 29"/>
          <p:cNvSpPr/>
          <p:nvPr/>
        </p:nvSpPr>
        <p:spPr>
          <a:xfrm>
            <a:off x="4919472" y="4425696"/>
            <a:ext cx="3840480" cy="365760"/>
          </a:xfrm>
          <a:prstGeom prst="rect">
            <a:avLst/>
          </a:prstGeom>
          <a:noFill/>
          <a:ln/>
        </p:spPr>
        <p:txBody>
          <a:bodyPr wrap="square" lIns="0" tIns="0" rIns="0" bIns="0" rtlCol="0" anchor="ctr"/>
          <a:lstStyle/>
          <a:p>
            <a:pPr marL="0" indent="0">
              <a:buNone/>
            </a:pPr>
            <a:r>
              <a:rPr lang="en-US" sz="950" dirty="0">
                <a:solidFill>
                  <a:srgbClr val="0A1628"/>
                </a:solidFill>
                <a:latin typeface="Calibri" pitchFamily="34" charset="0"/>
                <a:ea typeface="Calibri" pitchFamily="34" charset="-122"/>
                <a:cs typeface="Calibri" pitchFamily="34" charset="-120"/>
              </a:rPr>
              <a:t>Filtrează tranzacțiile din ultimele 24h unde totalul depășește 5000 RON SAU numărul de tranzacții depășește 10. Folosește subquery-uri corelate în clauza WHERE.</a:t>
            </a:r>
            <a:endParaRPr lang="en-US" sz="950" dirty="0"/>
          </a:p>
        </p:txBody>
      </p:sp>
      <p:sp>
        <p:nvSpPr>
          <p:cNvPr id="32" name="Shape 30"/>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ro-RO"/>
          </a:p>
        </p:txBody>
      </p:sp>
      <p:sp>
        <p:nvSpPr>
          <p:cNvPr id="33" name="Text 31"/>
          <p:cNvSpPr/>
          <p:nvPr/>
        </p:nvSpPr>
        <p:spPr>
          <a:xfrm>
            <a:off x="274320" y="4892040"/>
            <a:ext cx="8595360" cy="251460"/>
          </a:xfrm>
          <a:prstGeom prst="rect">
            <a:avLst/>
          </a:prstGeom>
          <a:noFill/>
          <a:ln/>
        </p:spPr>
        <p:txBody>
          <a:bodyPr wrap="square" lIns="0" tIns="0" rIns="0" bIns="0" rtlCol="0" anchor="ctr"/>
          <a:lstStyle/>
          <a:p>
            <a:pPr marL="0" indent="0">
              <a:buNone/>
            </a:pPr>
            <a:r>
              <a:rPr lang="en-US" sz="1000" dirty="0">
                <a:solidFill>
                  <a:srgbClr val="8FA3BF"/>
                </a:solidFill>
                <a:latin typeface="Calibri" pitchFamily="34" charset="0"/>
                <a:ea typeface="Calibri" pitchFamily="34" charset="-122"/>
                <a:cs typeface="Calibri" pitchFamily="34" charset="-120"/>
              </a:rPr>
              <a:t>Proiect 9 — Sistem Bancar Simplificat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ro-RO"/>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Interogări SQL Complexe</a:t>
            </a:r>
            <a:endParaRPr lang="en-US" sz="2600" dirty="0"/>
          </a:p>
        </p:txBody>
      </p:sp>
      <p:sp>
        <p:nvSpPr>
          <p:cNvPr id="4" name="Shape 2"/>
          <p:cNvSpPr/>
          <p:nvPr/>
        </p:nvSpPr>
        <p:spPr>
          <a:xfrm>
            <a:off x="164592" y="914400"/>
            <a:ext cx="8814816" cy="1280160"/>
          </a:xfrm>
          <a:prstGeom prst="rect">
            <a:avLst/>
          </a:prstGeom>
          <a:solidFill>
            <a:srgbClr val="E8EDF5"/>
          </a:solidFill>
          <a:ln w="12700">
            <a:solidFill>
              <a:srgbClr val="E8EDF5"/>
            </a:solidFill>
            <a:prstDash val="solid"/>
          </a:ln>
        </p:spPr>
        <p:txBody>
          <a:bodyPr/>
          <a:lstStyle/>
          <a:p>
            <a:endParaRPr lang="ro-RO"/>
          </a:p>
        </p:txBody>
      </p:sp>
      <p:sp>
        <p:nvSpPr>
          <p:cNvPr id="5" name="Shape 3"/>
          <p:cNvSpPr/>
          <p:nvPr/>
        </p:nvSpPr>
        <p:spPr>
          <a:xfrm>
            <a:off x="164592" y="914400"/>
            <a:ext cx="64008" cy="1280160"/>
          </a:xfrm>
          <a:prstGeom prst="rect">
            <a:avLst/>
          </a:prstGeom>
          <a:solidFill>
            <a:srgbClr val="C9A84C"/>
          </a:solidFill>
          <a:ln w="12700">
            <a:solidFill>
              <a:srgbClr val="C9A84C"/>
            </a:solidFill>
            <a:prstDash val="solid"/>
          </a:ln>
        </p:spPr>
        <p:txBody>
          <a:bodyPr/>
          <a:lstStyle/>
          <a:p>
            <a:endParaRPr lang="ro-RO"/>
          </a:p>
        </p:txBody>
      </p:sp>
      <p:sp>
        <p:nvSpPr>
          <p:cNvPr id="6" name="Text 4"/>
          <p:cNvSpPr/>
          <p:nvPr/>
        </p:nvSpPr>
        <p:spPr>
          <a:xfrm>
            <a:off x="347472" y="950976"/>
            <a:ext cx="4023360" cy="27432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JOIN Multi-Tabelar — Istoric Tranzacții cu Beneficiari</a:t>
            </a:r>
            <a:endParaRPr lang="en-US" sz="1200" dirty="0"/>
          </a:p>
        </p:txBody>
      </p:sp>
      <p:sp>
        <p:nvSpPr>
          <p:cNvPr id="7" name="Text 5"/>
          <p:cNvSpPr/>
          <p:nvPr/>
        </p:nvSpPr>
        <p:spPr>
          <a:xfrm>
            <a:off x="347472" y="1243584"/>
            <a:ext cx="3977640" cy="914400"/>
          </a:xfrm>
          <a:prstGeom prst="rect">
            <a:avLst/>
          </a:prstGeom>
          <a:noFill/>
          <a:ln/>
        </p:spPr>
        <p:txBody>
          <a:bodyPr wrap="square" lIns="0" tIns="0" rIns="0" bIns="0" rtlCol="0" anchor="t"/>
          <a:lstStyle/>
          <a:p>
            <a:pPr marL="0" indent="0" algn="l">
              <a:buNone/>
            </a:pPr>
            <a:r>
              <a:rPr lang="en-US" sz="1000" dirty="0">
                <a:solidFill>
                  <a:srgbClr val="0A1628"/>
                </a:solidFill>
                <a:latin typeface="Calibri" pitchFamily="34" charset="0"/>
                <a:ea typeface="Calibri" pitchFamily="34" charset="-122"/>
                <a:cs typeface="Calibri" pitchFamily="34" charset="-120"/>
              </a:rPr>
              <a:t>Combină tranzactii, conturi, beneficiari (LEFT JOIN) pentru a afișa istoricul complet cu numele entității partenere. Subquery corelat în SELECT caută beneficiarul salvat după IBAN, cu fallback la 'Plata/Transfer'.</a:t>
            </a:r>
            <a:endParaRPr lang="en-US" sz="1000" dirty="0"/>
          </a:p>
        </p:txBody>
      </p:sp>
      <p:sp>
        <p:nvSpPr>
          <p:cNvPr id="8" name="Shape 6"/>
          <p:cNvSpPr/>
          <p:nvPr/>
        </p:nvSpPr>
        <p:spPr>
          <a:xfrm>
            <a:off x="4407408" y="950976"/>
            <a:ext cx="4526280" cy="1207008"/>
          </a:xfrm>
          <a:prstGeom prst="rect">
            <a:avLst/>
          </a:prstGeom>
          <a:solidFill>
            <a:srgbClr val="0A1628"/>
          </a:solidFill>
          <a:ln w="12700">
            <a:solidFill>
              <a:srgbClr val="0A1628"/>
            </a:solidFill>
            <a:prstDash val="solid"/>
          </a:ln>
        </p:spPr>
        <p:txBody>
          <a:bodyPr/>
          <a:lstStyle/>
          <a:p>
            <a:endParaRPr lang="ro-RO"/>
          </a:p>
        </p:txBody>
      </p:sp>
      <p:sp>
        <p:nvSpPr>
          <p:cNvPr id="9" name="Text 7"/>
          <p:cNvSpPr/>
          <p:nvPr/>
        </p:nvSpPr>
        <p:spPr>
          <a:xfrm>
            <a:off x="4480560" y="978408"/>
            <a:ext cx="4389120" cy="1152144"/>
          </a:xfrm>
          <a:prstGeom prst="rect">
            <a:avLst/>
          </a:prstGeom>
          <a:noFill/>
          <a:ln/>
        </p:spPr>
        <p:txBody>
          <a:bodyPr wrap="square" lIns="0" tIns="0" rIns="0" bIns="0" rtlCol="0" anchor="t"/>
          <a:lstStyle/>
          <a:p>
            <a:pPr marL="0" indent="0" algn="l">
              <a:buNone/>
            </a:pPr>
            <a:r>
              <a:rPr lang="en-US" sz="850" dirty="0">
                <a:solidFill>
                  <a:srgbClr val="00B4D8"/>
                </a:solidFill>
                <a:latin typeface="Consolas" pitchFamily="34" charset="0"/>
                <a:ea typeface="Consolas" pitchFamily="34" charset="-122"/>
                <a:cs typeface="Consolas" pitchFamily="34" charset="-120"/>
              </a:rPr>
              <a:t>SELECT t.data_tranzactie, t.tip_tranzactie, t.suma,</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COALESCE(</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(SELECT b.nume_beneficiar FROM beneficiari b</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WHERE b.iban_beneficiar = t.iban_partener LIMIT 1),</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'Plata/Transfer'</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 AS entitate</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FROM tranzactii t</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JOIN conturi c ON t.id_cont = c.id_cont</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ORDER BY t.data_tranzactie DESC;</a:t>
            </a:r>
            <a:endParaRPr lang="en-US" sz="850" dirty="0"/>
          </a:p>
        </p:txBody>
      </p:sp>
      <p:sp>
        <p:nvSpPr>
          <p:cNvPr id="10" name="Shape 8"/>
          <p:cNvSpPr/>
          <p:nvPr/>
        </p:nvSpPr>
        <p:spPr>
          <a:xfrm>
            <a:off x="164592" y="2286000"/>
            <a:ext cx="8814816" cy="1280160"/>
          </a:xfrm>
          <a:prstGeom prst="rect">
            <a:avLst/>
          </a:prstGeom>
          <a:solidFill>
            <a:srgbClr val="E8EDF5"/>
          </a:solidFill>
          <a:ln w="12700">
            <a:solidFill>
              <a:srgbClr val="E8EDF5"/>
            </a:solidFill>
            <a:prstDash val="solid"/>
          </a:ln>
        </p:spPr>
        <p:txBody>
          <a:bodyPr/>
          <a:lstStyle/>
          <a:p>
            <a:endParaRPr lang="ro-RO"/>
          </a:p>
        </p:txBody>
      </p:sp>
      <p:sp>
        <p:nvSpPr>
          <p:cNvPr id="11" name="Shape 9"/>
          <p:cNvSpPr/>
          <p:nvPr/>
        </p:nvSpPr>
        <p:spPr>
          <a:xfrm>
            <a:off x="164592" y="2286000"/>
            <a:ext cx="64008" cy="1280160"/>
          </a:xfrm>
          <a:prstGeom prst="rect">
            <a:avLst/>
          </a:prstGeom>
          <a:solidFill>
            <a:srgbClr val="C9A84C"/>
          </a:solidFill>
          <a:ln w="12700">
            <a:solidFill>
              <a:srgbClr val="C9A84C"/>
            </a:solidFill>
            <a:prstDash val="solid"/>
          </a:ln>
        </p:spPr>
        <p:txBody>
          <a:bodyPr/>
          <a:lstStyle/>
          <a:p>
            <a:endParaRPr lang="ro-RO"/>
          </a:p>
        </p:txBody>
      </p:sp>
      <p:sp>
        <p:nvSpPr>
          <p:cNvPr id="12" name="Text 10"/>
          <p:cNvSpPr/>
          <p:nvPr/>
        </p:nvSpPr>
        <p:spPr>
          <a:xfrm>
            <a:off x="347472" y="2322576"/>
            <a:ext cx="4023360" cy="27432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Funcții de Agregare — Statistici per Cont</a:t>
            </a:r>
            <a:endParaRPr lang="en-US" sz="1200" dirty="0"/>
          </a:p>
        </p:txBody>
      </p:sp>
      <p:sp>
        <p:nvSpPr>
          <p:cNvPr id="13" name="Text 11"/>
          <p:cNvSpPr/>
          <p:nvPr/>
        </p:nvSpPr>
        <p:spPr>
          <a:xfrm>
            <a:off x="347472" y="2615184"/>
            <a:ext cx="3977640" cy="914400"/>
          </a:xfrm>
          <a:prstGeom prst="rect">
            <a:avLst/>
          </a:prstGeom>
          <a:noFill/>
          <a:ln/>
        </p:spPr>
        <p:txBody>
          <a:bodyPr wrap="square" lIns="0" tIns="0" rIns="0" bIns="0" rtlCol="0" anchor="t"/>
          <a:lstStyle/>
          <a:p>
            <a:pPr marL="0" indent="0" algn="l">
              <a:buNone/>
            </a:pPr>
            <a:r>
              <a:rPr lang="en-US" sz="1000" dirty="0">
                <a:solidFill>
                  <a:srgbClr val="0A1628"/>
                </a:solidFill>
                <a:latin typeface="Calibri" pitchFamily="34" charset="0"/>
                <a:ea typeface="Calibri" pitchFamily="34" charset="-122"/>
                <a:cs typeface="Calibri" pitchFamily="34" charset="-120"/>
              </a:rPr>
              <a:t>Calculează totalul tranzacțiilor de intrare și ieșire, numărul de operații și soldul net pentru fiecare cont, grupate pe tip. Folosit pentru rapoarte financiare și dashboard-uri de management.</a:t>
            </a:r>
            <a:endParaRPr lang="en-US" sz="1000" dirty="0"/>
          </a:p>
        </p:txBody>
      </p:sp>
      <p:sp>
        <p:nvSpPr>
          <p:cNvPr id="14" name="Shape 12"/>
          <p:cNvSpPr/>
          <p:nvPr/>
        </p:nvSpPr>
        <p:spPr>
          <a:xfrm>
            <a:off x="4407408" y="2322576"/>
            <a:ext cx="4526280" cy="1207008"/>
          </a:xfrm>
          <a:prstGeom prst="rect">
            <a:avLst/>
          </a:prstGeom>
          <a:solidFill>
            <a:srgbClr val="0A1628"/>
          </a:solidFill>
          <a:ln w="12700">
            <a:solidFill>
              <a:srgbClr val="0A1628"/>
            </a:solidFill>
            <a:prstDash val="solid"/>
          </a:ln>
        </p:spPr>
        <p:txBody>
          <a:bodyPr/>
          <a:lstStyle/>
          <a:p>
            <a:endParaRPr lang="ro-RO"/>
          </a:p>
        </p:txBody>
      </p:sp>
      <p:sp>
        <p:nvSpPr>
          <p:cNvPr id="15" name="Text 13"/>
          <p:cNvSpPr/>
          <p:nvPr/>
        </p:nvSpPr>
        <p:spPr>
          <a:xfrm>
            <a:off x="4480560" y="2350008"/>
            <a:ext cx="4389120" cy="1152144"/>
          </a:xfrm>
          <a:prstGeom prst="rect">
            <a:avLst/>
          </a:prstGeom>
          <a:noFill/>
          <a:ln/>
        </p:spPr>
        <p:txBody>
          <a:bodyPr wrap="square" lIns="0" tIns="0" rIns="0" bIns="0" rtlCol="0" anchor="t"/>
          <a:lstStyle/>
          <a:p>
            <a:pPr marL="0" indent="0" algn="l">
              <a:buNone/>
            </a:pPr>
            <a:r>
              <a:rPr lang="en-US" sz="850" dirty="0">
                <a:solidFill>
                  <a:srgbClr val="00B4D8"/>
                </a:solidFill>
                <a:latin typeface="Consolas" pitchFamily="34" charset="0"/>
                <a:ea typeface="Consolas" pitchFamily="34" charset="-122"/>
                <a:cs typeface="Consolas" pitchFamily="34" charset="-120"/>
              </a:rPr>
              <a:t>SELECT c.iban, t.tip_tranzactie,</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COUNT(*) AS nr_tranzactii,</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SUM(t.suma) AS total,</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AVG(t.suma) AS medie</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FROM tranzactii t</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JOIN conturi c ON t.id_cont = c.id_cont</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GROUP BY c.iban, t.tip_tranzactie</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HAVING COUNT(*) &gt; 5</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ORDER BY total DESC;</a:t>
            </a:r>
            <a:endParaRPr lang="en-US" sz="850" dirty="0"/>
          </a:p>
        </p:txBody>
      </p:sp>
      <p:sp>
        <p:nvSpPr>
          <p:cNvPr id="16" name="Shape 14"/>
          <p:cNvSpPr/>
          <p:nvPr/>
        </p:nvSpPr>
        <p:spPr>
          <a:xfrm>
            <a:off x="164592" y="3657600"/>
            <a:ext cx="8814816" cy="1280160"/>
          </a:xfrm>
          <a:prstGeom prst="rect">
            <a:avLst/>
          </a:prstGeom>
          <a:solidFill>
            <a:srgbClr val="E8EDF5"/>
          </a:solidFill>
          <a:ln w="12700">
            <a:solidFill>
              <a:srgbClr val="E8EDF5"/>
            </a:solidFill>
            <a:prstDash val="solid"/>
          </a:ln>
        </p:spPr>
        <p:txBody>
          <a:bodyPr/>
          <a:lstStyle/>
          <a:p>
            <a:endParaRPr lang="ro-RO"/>
          </a:p>
        </p:txBody>
      </p:sp>
      <p:sp>
        <p:nvSpPr>
          <p:cNvPr id="17" name="Shape 15"/>
          <p:cNvSpPr/>
          <p:nvPr/>
        </p:nvSpPr>
        <p:spPr>
          <a:xfrm>
            <a:off x="164592" y="3657600"/>
            <a:ext cx="64008" cy="1280160"/>
          </a:xfrm>
          <a:prstGeom prst="rect">
            <a:avLst/>
          </a:prstGeom>
          <a:solidFill>
            <a:srgbClr val="C9A84C"/>
          </a:solidFill>
          <a:ln w="12700">
            <a:solidFill>
              <a:srgbClr val="C9A84C"/>
            </a:solidFill>
            <a:prstDash val="solid"/>
          </a:ln>
        </p:spPr>
        <p:txBody>
          <a:bodyPr/>
          <a:lstStyle/>
          <a:p>
            <a:endParaRPr lang="ro-RO"/>
          </a:p>
        </p:txBody>
      </p:sp>
      <p:sp>
        <p:nvSpPr>
          <p:cNvPr id="18" name="Text 16"/>
          <p:cNvSpPr/>
          <p:nvPr/>
        </p:nvSpPr>
        <p:spPr>
          <a:xfrm>
            <a:off x="347472" y="3694176"/>
            <a:ext cx="4023360" cy="27432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Subquery Corelat — Detectare Fraudă</a:t>
            </a:r>
            <a:endParaRPr lang="en-US" sz="1200" dirty="0"/>
          </a:p>
        </p:txBody>
      </p:sp>
      <p:sp>
        <p:nvSpPr>
          <p:cNvPr id="19" name="Text 17"/>
          <p:cNvSpPr/>
          <p:nvPr/>
        </p:nvSpPr>
        <p:spPr>
          <a:xfrm>
            <a:off x="347472" y="3986784"/>
            <a:ext cx="3977640" cy="914400"/>
          </a:xfrm>
          <a:prstGeom prst="rect">
            <a:avLst/>
          </a:prstGeom>
          <a:noFill/>
          <a:ln/>
        </p:spPr>
        <p:txBody>
          <a:bodyPr wrap="square" lIns="0" tIns="0" rIns="0" bIns="0" rtlCol="0" anchor="t"/>
          <a:lstStyle/>
          <a:p>
            <a:pPr marL="0" indent="0" algn="l">
              <a:buNone/>
            </a:pPr>
            <a:r>
              <a:rPr lang="en-US" sz="1000" dirty="0">
                <a:solidFill>
                  <a:srgbClr val="0A1628"/>
                </a:solidFill>
                <a:latin typeface="Calibri" pitchFamily="34" charset="0"/>
                <a:ea typeface="Calibri" pitchFamily="34" charset="-122"/>
                <a:cs typeface="Calibri" pitchFamily="34" charset="-120"/>
              </a:rPr>
              <a:t>Identifică conturile cu activitate suspectă în ultimele 24 de ore: totalul tranzacțiilor depășind 5000 RON SAU mai mult de 10 tranzacții într-o zi. Fiecare rând este evaluat față de un subquery corelat care recalculează statisticile pentru acel cont specific.</a:t>
            </a:r>
            <a:endParaRPr lang="en-US" sz="1000" dirty="0"/>
          </a:p>
        </p:txBody>
      </p:sp>
      <p:sp>
        <p:nvSpPr>
          <p:cNvPr id="20" name="Shape 18"/>
          <p:cNvSpPr/>
          <p:nvPr/>
        </p:nvSpPr>
        <p:spPr>
          <a:xfrm>
            <a:off x="4407408" y="3694176"/>
            <a:ext cx="4526280" cy="1207008"/>
          </a:xfrm>
          <a:prstGeom prst="rect">
            <a:avLst/>
          </a:prstGeom>
          <a:solidFill>
            <a:srgbClr val="0A1628"/>
          </a:solidFill>
          <a:ln w="12700">
            <a:solidFill>
              <a:srgbClr val="0A1628"/>
            </a:solidFill>
            <a:prstDash val="solid"/>
          </a:ln>
        </p:spPr>
        <p:txBody>
          <a:bodyPr/>
          <a:lstStyle/>
          <a:p>
            <a:endParaRPr lang="ro-RO"/>
          </a:p>
        </p:txBody>
      </p:sp>
      <p:sp>
        <p:nvSpPr>
          <p:cNvPr id="21" name="Text 19"/>
          <p:cNvSpPr/>
          <p:nvPr/>
        </p:nvSpPr>
        <p:spPr>
          <a:xfrm>
            <a:off x="4480560" y="3721608"/>
            <a:ext cx="4389120" cy="1152144"/>
          </a:xfrm>
          <a:prstGeom prst="rect">
            <a:avLst/>
          </a:prstGeom>
          <a:noFill/>
          <a:ln/>
        </p:spPr>
        <p:txBody>
          <a:bodyPr wrap="square" lIns="0" tIns="0" rIns="0" bIns="0" rtlCol="0" anchor="t"/>
          <a:lstStyle/>
          <a:p>
            <a:pPr marL="0" indent="0" algn="l">
              <a:buNone/>
            </a:pPr>
            <a:r>
              <a:rPr lang="en-US" sz="850" dirty="0">
                <a:solidFill>
                  <a:srgbClr val="00B4D8"/>
                </a:solidFill>
                <a:latin typeface="Consolas" pitchFamily="34" charset="0"/>
                <a:ea typeface="Consolas" pitchFamily="34" charset="-122"/>
                <a:cs typeface="Consolas" pitchFamily="34" charset="-120"/>
              </a:rPr>
              <a:t>SELECT id_tranzactie, id_cont, suma</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FROM tranzactii t</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WHERE data_tranzactie &gt;=</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NOW() - INTERVAL 1 DAY</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AND (</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(SELECT SUM(suma) FROM tranzactii</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WHERE id_cont = t.id_cont</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AND data_tranzactie &gt;= NOW()</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 INTERVAL 1 DAY) &gt; 5000</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OR</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(SELECT COUNT(*) FROM tranzactii</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WHERE id_cont = t.id_cont</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AND data_tranzactie &gt;= NOW()</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     - INTERVAL 1 DAY) &gt; 10</a:t>
            </a:r>
            <a:endParaRPr lang="en-US" sz="850" dirty="0"/>
          </a:p>
          <a:p>
            <a:pPr marL="0" indent="0" algn="l">
              <a:buNone/>
            </a:pPr>
            <a:r>
              <a:rPr lang="en-US" sz="850" dirty="0">
                <a:solidFill>
                  <a:srgbClr val="00B4D8"/>
                </a:solidFill>
                <a:latin typeface="Consolas" pitchFamily="34" charset="0"/>
                <a:ea typeface="Consolas" pitchFamily="34" charset="-122"/>
                <a:cs typeface="Consolas" pitchFamily="34" charset="-120"/>
              </a:rPr>
              <a:t>);</a:t>
            </a:r>
            <a:endParaRPr lang="en-US" sz="850" dirty="0"/>
          </a:p>
        </p:txBody>
      </p:sp>
      <p:sp>
        <p:nvSpPr>
          <p:cNvPr id="22" name="Shape 20"/>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ro-RO"/>
          </a:p>
        </p:txBody>
      </p:sp>
      <p:sp>
        <p:nvSpPr>
          <p:cNvPr id="23" name="Text 21"/>
          <p:cNvSpPr/>
          <p:nvPr/>
        </p:nvSpPr>
        <p:spPr>
          <a:xfrm>
            <a:off x="274320" y="4892040"/>
            <a:ext cx="8595360" cy="251460"/>
          </a:xfrm>
          <a:prstGeom prst="rect">
            <a:avLst/>
          </a:prstGeom>
          <a:noFill/>
          <a:ln/>
        </p:spPr>
        <p:txBody>
          <a:bodyPr wrap="square" lIns="0" tIns="0" rIns="0" bIns="0" rtlCol="0" anchor="ctr"/>
          <a:lstStyle/>
          <a:p>
            <a:pPr marL="0" indent="0">
              <a:buNone/>
            </a:pPr>
            <a:r>
              <a:rPr lang="en-US" sz="1000" dirty="0">
                <a:solidFill>
                  <a:srgbClr val="8FA3BF"/>
                </a:solidFill>
                <a:latin typeface="Calibri" pitchFamily="34" charset="0"/>
                <a:ea typeface="Calibri" pitchFamily="34" charset="-122"/>
                <a:cs typeface="Calibri" pitchFamily="34" charset="-120"/>
              </a:rPr>
              <a:t>Proiect 9 — Sistem Bancar Simplificat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ro-RO"/>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Optimizare </a:t>
            </a:r>
            <a:r>
              <a:rPr lang="en-US" sz="2600" b="1">
                <a:solidFill>
                  <a:srgbClr val="FFFFFF"/>
                </a:solidFill>
                <a:latin typeface="Calibri" pitchFamily="34" charset="0"/>
                <a:ea typeface="Calibri" pitchFamily="34" charset="-122"/>
                <a:cs typeface="Calibri" pitchFamily="34" charset="-120"/>
              </a:rPr>
              <a:t>— Indecși</a:t>
            </a:r>
            <a:endParaRPr lang="en-US" sz="2600" dirty="0"/>
          </a:p>
        </p:txBody>
      </p:sp>
      <p:sp>
        <p:nvSpPr>
          <p:cNvPr id="4" name="Text 2"/>
          <p:cNvSpPr/>
          <p:nvPr/>
        </p:nvSpPr>
        <p:spPr>
          <a:xfrm>
            <a:off x="320040" y="960120"/>
            <a:ext cx="4297680" cy="347472"/>
          </a:xfrm>
          <a:prstGeom prst="rect">
            <a:avLst/>
          </a:prstGeom>
          <a:noFill/>
          <a:ln/>
        </p:spPr>
        <p:txBody>
          <a:bodyPr wrap="square" lIns="0" tIns="0" rIns="0" bIns="0"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Indecși definiti în schemă</a:t>
            </a:r>
            <a:endParaRPr lang="en-US" sz="1500" dirty="0"/>
          </a:p>
        </p:txBody>
      </p:sp>
      <p:sp>
        <p:nvSpPr>
          <p:cNvPr id="5" name="Shape 3"/>
          <p:cNvSpPr/>
          <p:nvPr/>
        </p:nvSpPr>
        <p:spPr>
          <a:xfrm>
            <a:off x="320040" y="1353312"/>
            <a:ext cx="1645920" cy="329184"/>
          </a:xfrm>
          <a:prstGeom prst="rect">
            <a:avLst/>
          </a:prstGeom>
          <a:solidFill>
            <a:srgbClr val="0A1628"/>
          </a:solidFill>
          <a:ln w="12700">
            <a:solidFill>
              <a:srgbClr val="0A1628"/>
            </a:solidFill>
            <a:prstDash val="solid"/>
          </a:ln>
        </p:spPr>
        <p:txBody>
          <a:bodyPr/>
          <a:lstStyle/>
          <a:p>
            <a:endParaRPr lang="ro-RO"/>
          </a:p>
        </p:txBody>
      </p:sp>
      <p:sp>
        <p:nvSpPr>
          <p:cNvPr id="6" name="Text 4"/>
          <p:cNvSpPr/>
          <p:nvPr/>
        </p:nvSpPr>
        <p:spPr>
          <a:xfrm>
            <a:off x="365760" y="1353312"/>
            <a:ext cx="1554480" cy="3291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Tabelă</a:t>
            </a:r>
            <a:endParaRPr lang="en-US" sz="1100" dirty="0"/>
          </a:p>
        </p:txBody>
      </p:sp>
      <p:sp>
        <p:nvSpPr>
          <p:cNvPr id="7" name="Shape 5"/>
          <p:cNvSpPr/>
          <p:nvPr/>
        </p:nvSpPr>
        <p:spPr>
          <a:xfrm>
            <a:off x="1965960" y="1353312"/>
            <a:ext cx="1828800" cy="329184"/>
          </a:xfrm>
          <a:prstGeom prst="rect">
            <a:avLst/>
          </a:prstGeom>
          <a:solidFill>
            <a:srgbClr val="0A1628"/>
          </a:solidFill>
          <a:ln w="12700">
            <a:solidFill>
              <a:srgbClr val="0A1628"/>
            </a:solidFill>
            <a:prstDash val="solid"/>
          </a:ln>
        </p:spPr>
        <p:txBody>
          <a:bodyPr/>
          <a:lstStyle/>
          <a:p>
            <a:endParaRPr lang="ro-RO"/>
          </a:p>
        </p:txBody>
      </p:sp>
      <p:sp>
        <p:nvSpPr>
          <p:cNvPr id="8" name="Text 6"/>
          <p:cNvSpPr/>
          <p:nvPr/>
        </p:nvSpPr>
        <p:spPr>
          <a:xfrm>
            <a:off x="2011680" y="1353312"/>
            <a:ext cx="1737360" cy="3291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Index</a:t>
            </a:r>
            <a:endParaRPr lang="en-US" sz="1100" dirty="0"/>
          </a:p>
        </p:txBody>
      </p:sp>
      <p:sp>
        <p:nvSpPr>
          <p:cNvPr id="9" name="Shape 7"/>
          <p:cNvSpPr/>
          <p:nvPr/>
        </p:nvSpPr>
        <p:spPr>
          <a:xfrm>
            <a:off x="3794760" y="1353312"/>
            <a:ext cx="822960" cy="329184"/>
          </a:xfrm>
          <a:prstGeom prst="rect">
            <a:avLst/>
          </a:prstGeom>
          <a:solidFill>
            <a:srgbClr val="0A1628"/>
          </a:solidFill>
          <a:ln w="12700">
            <a:solidFill>
              <a:srgbClr val="0A1628"/>
            </a:solidFill>
            <a:prstDash val="solid"/>
          </a:ln>
        </p:spPr>
        <p:txBody>
          <a:bodyPr/>
          <a:lstStyle/>
          <a:p>
            <a:endParaRPr lang="ro-RO"/>
          </a:p>
        </p:txBody>
      </p:sp>
      <p:sp>
        <p:nvSpPr>
          <p:cNvPr id="10" name="Text 8"/>
          <p:cNvSpPr/>
          <p:nvPr/>
        </p:nvSpPr>
        <p:spPr>
          <a:xfrm>
            <a:off x="3840480" y="1353312"/>
            <a:ext cx="731520" cy="3291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Tip</a:t>
            </a:r>
            <a:endParaRPr lang="en-US" sz="1100" dirty="0"/>
          </a:p>
        </p:txBody>
      </p:sp>
      <p:sp>
        <p:nvSpPr>
          <p:cNvPr id="11" name="Shape 9"/>
          <p:cNvSpPr/>
          <p:nvPr/>
        </p:nvSpPr>
        <p:spPr>
          <a:xfrm>
            <a:off x="4617720" y="1353312"/>
            <a:ext cx="3566160" cy="329184"/>
          </a:xfrm>
          <a:prstGeom prst="rect">
            <a:avLst/>
          </a:prstGeom>
          <a:solidFill>
            <a:srgbClr val="0A1628"/>
          </a:solidFill>
          <a:ln w="12700">
            <a:solidFill>
              <a:srgbClr val="0A1628"/>
            </a:solidFill>
            <a:prstDash val="solid"/>
          </a:ln>
        </p:spPr>
        <p:txBody>
          <a:bodyPr/>
          <a:lstStyle/>
          <a:p>
            <a:endParaRPr lang="ro-RO"/>
          </a:p>
        </p:txBody>
      </p:sp>
      <p:sp>
        <p:nvSpPr>
          <p:cNvPr id="12" name="Text 10"/>
          <p:cNvSpPr/>
          <p:nvPr/>
        </p:nvSpPr>
        <p:spPr>
          <a:xfrm>
            <a:off x="4663440" y="1353312"/>
            <a:ext cx="3474720" cy="329184"/>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	Motiv</a:t>
            </a:r>
            <a:endParaRPr lang="en-US" sz="1100" dirty="0"/>
          </a:p>
        </p:txBody>
      </p:sp>
      <p:sp>
        <p:nvSpPr>
          <p:cNvPr id="13" name="Shape 11"/>
          <p:cNvSpPr/>
          <p:nvPr/>
        </p:nvSpPr>
        <p:spPr>
          <a:xfrm>
            <a:off x="320040" y="1700784"/>
            <a:ext cx="1645920" cy="329184"/>
          </a:xfrm>
          <a:prstGeom prst="rect">
            <a:avLst/>
          </a:prstGeom>
          <a:solidFill>
            <a:srgbClr val="FFFFFF"/>
          </a:solidFill>
          <a:ln w="12700">
            <a:solidFill>
              <a:srgbClr val="FFFFFF"/>
            </a:solidFill>
            <a:prstDash val="solid"/>
          </a:ln>
        </p:spPr>
        <p:txBody>
          <a:bodyPr/>
          <a:lstStyle/>
          <a:p>
            <a:endParaRPr lang="ro-RO"/>
          </a:p>
        </p:txBody>
      </p:sp>
      <p:sp>
        <p:nvSpPr>
          <p:cNvPr id="14" name="Text 12"/>
          <p:cNvSpPr/>
          <p:nvPr/>
        </p:nvSpPr>
        <p:spPr>
          <a:xfrm>
            <a:off x="365760" y="1700784"/>
            <a:ext cx="1554480" cy="329184"/>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conturi</a:t>
            </a:r>
            <a:endParaRPr lang="en-US" sz="1100" dirty="0"/>
          </a:p>
        </p:txBody>
      </p:sp>
      <p:sp>
        <p:nvSpPr>
          <p:cNvPr id="15" name="Shape 13"/>
          <p:cNvSpPr/>
          <p:nvPr/>
        </p:nvSpPr>
        <p:spPr>
          <a:xfrm>
            <a:off x="1965960" y="1700784"/>
            <a:ext cx="1828800" cy="329184"/>
          </a:xfrm>
          <a:prstGeom prst="rect">
            <a:avLst/>
          </a:prstGeom>
          <a:solidFill>
            <a:srgbClr val="FFFFFF"/>
          </a:solidFill>
          <a:ln w="12700">
            <a:solidFill>
              <a:srgbClr val="FFFFFF"/>
            </a:solidFill>
            <a:prstDash val="solid"/>
          </a:ln>
        </p:spPr>
        <p:txBody>
          <a:bodyPr/>
          <a:lstStyle/>
          <a:p>
            <a:endParaRPr lang="ro-RO"/>
          </a:p>
        </p:txBody>
      </p:sp>
      <p:sp>
        <p:nvSpPr>
          <p:cNvPr id="16" name="Text 14"/>
          <p:cNvSpPr/>
          <p:nvPr/>
        </p:nvSpPr>
        <p:spPr>
          <a:xfrm>
            <a:off x="2011680" y="1700784"/>
            <a:ext cx="1737360" cy="329184"/>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iban</a:t>
            </a:r>
            <a:endParaRPr lang="en-US" sz="1100" dirty="0"/>
          </a:p>
        </p:txBody>
      </p:sp>
      <p:sp>
        <p:nvSpPr>
          <p:cNvPr id="17" name="Shape 15"/>
          <p:cNvSpPr/>
          <p:nvPr/>
        </p:nvSpPr>
        <p:spPr>
          <a:xfrm>
            <a:off x="3794760" y="1700784"/>
            <a:ext cx="822960" cy="329184"/>
          </a:xfrm>
          <a:prstGeom prst="rect">
            <a:avLst/>
          </a:prstGeom>
          <a:solidFill>
            <a:srgbClr val="FFFFFF"/>
          </a:solidFill>
          <a:ln w="12700">
            <a:solidFill>
              <a:srgbClr val="FFFFFF"/>
            </a:solidFill>
            <a:prstDash val="solid"/>
          </a:ln>
        </p:spPr>
        <p:txBody>
          <a:bodyPr/>
          <a:lstStyle/>
          <a:p>
            <a:endParaRPr lang="ro-RO"/>
          </a:p>
        </p:txBody>
      </p:sp>
      <p:sp>
        <p:nvSpPr>
          <p:cNvPr id="18" name="Text 16"/>
          <p:cNvSpPr/>
          <p:nvPr/>
        </p:nvSpPr>
        <p:spPr>
          <a:xfrm>
            <a:off x="3840480" y="1700784"/>
            <a:ext cx="731520" cy="329184"/>
          </a:xfrm>
          <a:prstGeom prst="rect">
            <a:avLst/>
          </a:prstGeom>
          <a:noFill/>
          <a:ln/>
        </p:spPr>
        <p:txBody>
          <a:bodyPr wrap="square" lIns="0" tIns="0" rIns="0" bIns="0" rtlCol="0" anchor="ctr"/>
          <a:lstStyle/>
          <a:p>
            <a:pPr marL="0" indent="0">
              <a:buNone/>
            </a:pPr>
            <a:r>
              <a:rPr lang="en-US" sz="1100" b="1" dirty="0">
                <a:solidFill>
                  <a:srgbClr val="E74C3C"/>
                </a:solidFill>
                <a:latin typeface="Calibri" pitchFamily="34" charset="0"/>
                <a:ea typeface="Calibri" pitchFamily="34" charset="-122"/>
                <a:cs typeface="Calibri" pitchFamily="34" charset="-120"/>
              </a:rPr>
              <a:t>UNIQUE</a:t>
            </a:r>
            <a:endParaRPr lang="en-US" sz="1100" dirty="0"/>
          </a:p>
        </p:txBody>
      </p:sp>
      <p:sp>
        <p:nvSpPr>
          <p:cNvPr id="20" name="Text 18"/>
          <p:cNvSpPr/>
          <p:nvPr/>
        </p:nvSpPr>
        <p:spPr>
          <a:xfrm>
            <a:off x="4663440" y="1700784"/>
            <a:ext cx="3474720" cy="329184"/>
          </a:xfrm>
          <a:prstGeom prst="rect">
            <a:avLst/>
          </a:prstGeom>
          <a:noFill/>
          <a:ln/>
        </p:spPr>
        <p:txBody>
          <a:bodyPr wrap="square" lIns="0" tIns="0" rIns="0" bIns="0" rtlCol="0" anchor="ctr"/>
          <a:lstStyle/>
          <a:p>
            <a:pPr marL="0" indent="0">
              <a:buNone/>
            </a:pPr>
            <a:r>
              <a:rPr lang="en-US" sz="1100">
                <a:solidFill>
                  <a:srgbClr val="0A1628"/>
                </a:solidFill>
                <a:latin typeface="Calibri" pitchFamily="34" charset="0"/>
                <a:ea typeface="Calibri" pitchFamily="34" charset="-122"/>
                <a:cs typeface="Calibri" pitchFamily="34" charset="-120"/>
              </a:rPr>
              <a:t>	Căutări </a:t>
            </a:r>
            <a:r>
              <a:rPr lang="en-US" sz="1100" dirty="0">
                <a:solidFill>
                  <a:srgbClr val="0A1628"/>
                </a:solidFill>
                <a:latin typeface="Calibri" pitchFamily="34" charset="0"/>
                <a:ea typeface="Calibri" pitchFamily="34" charset="-122"/>
                <a:cs typeface="Calibri" pitchFamily="34" charset="-120"/>
              </a:rPr>
              <a:t>frecvente după IBAN</a:t>
            </a:r>
            <a:endParaRPr lang="en-US" sz="1100" dirty="0"/>
          </a:p>
        </p:txBody>
      </p:sp>
      <p:sp>
        <p:nvSpPr>
          <p:cNvPr id="21" name="Shape 19"/>
          <p:cNvSpPr/>
          <p:nvPr/>
        </p:nvSpPr>
        <p:spPr>
          <a:xfrm>
            <a:off x="320040" y="2048256"/>
            <a:ext cx="1645920" cy="329184"/>
          </a:xfrm>
          <a:prstGeom prst="rect">
            <a:avLst/>
          </a:prstGeom>
          <a:solidFill>
            <a:srgbClr val="E8EDF5"/>
          </a:solidFill>
          <a:ln w="12700">
            <a:solidFill>
              <a:srgbClr val="E8EDF5"/>
            </a:solidFill>
            <a:prstDash val="solid"/>
          </a:ln>
        </p:spPr>
        <p:txBody>
          <a:bodyPr/>
          <a:lstStyle/>
          <a:p>
            <a:endParaRPr lang="ro-RO"/>
          </a:p>
        </p:txBody>
      </p:sp>
      <p:sp>
        <p:nvSpPr>
          <p:cNvPr id="22" name="Text 20"/>
          <p:cNvSpPr/>
          <p:nvPr/>
        </p:nvSpPr>
        <p:spPr>
          <a:xfrm>
            <a:off x="365760" y="2048256"/>
            <a:ext cx="1554480" cy="329184"/>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conturi</a:t>
            </a:r>
            <a:endParaRPr lang="en-US" sz="1100" dirty="0"/>
          </a:p>
        </p:txBody>
      </p:sp>
      <p:sp>
        <p:nvSpPr>
          <p:cNvPr id="23" name="Shape 21"/>
          <p:cNvSpPr/>
          <p:nvPr/>
        </p:nvSpPr>
        <p:spPr>
          <a:xfrm>
            <a:off x="1965960" y="2048256"/>
            <a:ext cx="1828800" cy="329184"/>
          </a:xfrm>
          <a:prstGeom prst="rect">
            <a:avLst/>
          </a:prstGeom>
          <a:solidFill>
            <a:srgbClr val="E8EDF5"/>
          </a:solidFill>
          <a:ln w="12700">
            <a:solidFill>
              <a:srgbClr val="E8EDF5"/>
            </a:solidFill>
            <a:prstDash val="solid"/>
          </a:ln>
        </p:spPr>
        <p:txBody>
          <a:bodyPr/>
          <a:lstStyle/>
          <a:p>
            <a:endParaRPr lang="ro-RO"/>
          </a:p>
        </p:txBody>
      </p:sp>
      <p:sp>
        <p:nvSpPr>
          <p:cNvPr id="24" name="Text 22"/>
          <p:cNvSpPr/>
          <p:nvPr/>
        </p:nvSpPr>
        <p:spPr>
          <a:xfrm>
            <a:off x="2011680" y="2048256"/>
            <a:ext cx="1737360" cy="329184"/>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idx_client_cont</a:t>
            </a:r>
            <a:endParaRPr lang="en-US" sz="1100" dirty="0"/>
          </a:p>
        </p:txBody>
      </p:sp>
      <p:sp>
        <p:nvSpPr>
          <p:cNvPr id="25" name="Shape 23"/>
          <p:cNvSpPr/>
          <p:nvPr/>
        </p:nvSpPr>
        <p:spPr>
          <a:xfrm>
            <a:off x="3794760" y="2048256"/>
            <a:ext cx="822960" cy="329184"/>
          </a:xfrm>
          <a:prstGeom prst="rect">
            <a:avLst/>
          </a:prstGeom>
          <a:solidFill>
            <a:srgbClr val="E8EDF5"/>
          </a:solidFill>
          <a:ln w="12700">
            <a:solidFill>
              <a:srgbClr val="E8EDF5"/>
            </a:solidFill>
            <a:prstDash val="solid"/>
          </a:ln>
        </p:spPr>
        <p:txBody>
          <a:bodyPr/>
          <a:lstStyle/>
          <a:p>
            <a:endParaRPr lang="ro-RO"/>
          </a:p>
        </p:txBody>
      </p:sp>
      <p:sp>
        <p:nvSpPr>
          <p:cNvPr id="26" name="Text 24"/>
          <p:cNvSpPr/>
          <p:nvPr/>
        </p:nvSpPr>
        <p:spPr>
          <a:xfrm>
            <a:off x="3840480" y="2048256"/>
            <a:ext cx="731520" cy="329184"/>
          </a:xfrm>
          <a:prstGeom prst="rect">
            <a:avLst/>
          </a:prstGeom>
          <a:noFill/>
          <a:ln/>
        </p:spPr>
        <p:txBody>
          <a:bodyPr wrap="square" lIns="0" tIns="0" rIns="0" bIns="0" rtlCol="0" anchor="ctr"/>
          <a:lstStyle/>
          <a:p>
            <a:pPr marL="0" indent="0">
              <a:buNone/>
            </a:pPr>
            <a:r>
              <a:rPr lang="en-US" sz="1100" b="1" dirty="0">
                <a:solidFill>
                  <a:srgbClr val="2ECC71"/>
                </a:solidFill>
                <a:latin typeface="Calibri" pitchFamily="34" charset="0"/>
                <a:ea typeface="Calibri" pitchFamily="34" charset="-122"/>
                <a:cs typeface="Calibri" pitchFamily="34" charset="-120"/>
              </a:rPr>
              <a:t>INDEX</a:t>
            </a:r>
            <a:endParaRPr lang="en-US" sz="1100" dirty="0"/>
          </a:p>
        </p:txBody>
      </p:sp>
      <p:sp>
        <p:nvSpPr>
          <p:cNvPr id="27" name="Shape 25"/>
          <p:cNvSpPr/>
          <p:nvPr/>
        </p:nvSpPr>
        <p:spPr>
          <a:xfrm>
            <a:off x="4617720" y="2048256"/>
            <a:ext cx="3566160" cy="329184"/>
          </a:xfrm>
          <a:prstGeom prst="rect">
            <a:avLst/>
          </a:prstGeom>
          <a:solidFill>
            <a:srgbClr val="E8EDF5"/>
          </a:solidFill>
          <a:ln w="12700">
            <a:solidFill>
              <a:srgbClr val="E8EDF5"/>
            </a:solidFill>
            <a:prstDash val="solid"/>
          </a:ln>
        </p:spPr>
        <p:txBody>
          <a:bodyPr/>
          <a:lstStyle/>
          <a:p>
            <a:endParaRPr lang="ro-RO"/>
          </a:p>
        </p:txBody>
      </p:sp>
      <p:sp>
        <p:nvSpPr>
          <p:cNvPr id="28" name="Text 26"/>
          <p:cNvSpPr/>
          <p:nvPr/>
        </p:nvSpPr>
        <p:spPr>
          <a:xfrm>
            <a:off x="4663440" y="2048256"/>
            <a:ext cx="3474720" cy="329184"/>
          </a:xfrm>
          <a:prstGeom prst="rect">
            <a:avLst/>
          </a:prstGeom>
          <a:noFill/>
          <a:ln/>
        </p:spPr>
        <p:txBody>
          <a:bodyPr wrap="square" lIns="0" tIns="0" rIns="0" bIns="0" rtlCol="0" anchor="ctr"/>
          <a:lstStyle/>
          <a:p>
            <a:pPr marL="0" indent="0">
              <a:buNone/>
            </a:pPr>
            <a:r>
              <a:rPr lang="en-US" sz="1100">
                <a:solidFill>
                  <a:srgbClr val="0A1628"/>
                </a:solidFill>
                <a:latin typeface="Calibri" pitchFamily="34" charset="0"/>
                <a:ea typeface="Calibri" pitchFamily="34" charset="-122"/>
                <a:cs typeface="Calibri" pitchFamily="34" charset="-120"/>
              </a:rPr>
              <a:t>	JOIN </a:t>
            </a:r>
            <a:r>
              <a:rPr lang="en-US" sz="1100" dirty="0">
                <a:solidFill>
                  <a:srgbClr val="0A1628"/>
                </a:solidFill>
                <a:latin typeface="Calibri" pitchFamily="34" charset="0"/>
                <a:ea typeface="Calibri" pitchFamily="34" charset="-122"/>
                <a:cs typeface="Calibri" pitchFamily="34" charset="-120"/>
              </a:rPr>
              <a:t>cu tabela clienti</a:t>
            </a:r>
            <a:endParaRPr lang="en-US" sz="1100" dirty="0"/>
          </a:p>
        </p:txBody>
      </p:sp>
      <p:sp>
        <p:nvSpPr>
          <p:cNvPr id="29" name="Shape 27"/>
          <p:cNvSpPr/>
          <p:nvPr/>
        </p:nvSpPr>
        <p:spPr>
          <a:xfrm>
            <a:off x="320040" y="2395728"/>
            <a:ext cx="1645920" cy="329184"/>
          </a:xfrm>
          <a:prstGeom prst="rect">
            <a:avLst/>
          </a:prstGeom>
          <a:solidFill>
            <a:srgbClr val="FFFFFF"/>
          </a:solidFill>
          <a:ln w="12700">
            <a:solidFill>
              <a:srgbClr val="FFFFFF"/>
            </a:solidFill>
            <a:prstDash val="solid"/>
          </a:ln>
        </p:spPr>
        <p:txBody>
          <a:bodyPr/>
          <a:lstStyle/>
          <a:p>
            <a:endParaRPr lang="ro-RO"/>
          </a:p>
        </p:txBody>
      </p:sp>
      <p:sp>
        <p:nvSpPr>
          <p:cNvPr id="30" name="Text 28"/>
          <p:cNvSpPr/>
          <p:nvPr/>
        </p:nvSpPr>
        <p:spPr>
          <a:xfrm>
            <a:off x="365760" y="2395728"/>
            <a:ext cx="1554480" cy="329184"/>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tranzactii</a:t>
            </a:r>
            <a:endParaRPr lang="en-US" sz="1100" dirty="0"/>
          </a:p>
        </p:txBody>
      </p:sp>
      <p:sp>
        <p:nvSpPr>
          <p:cNvPr id="31" name="Shape 29"/>
          <p:cNvSpPr/>
          <p:nvPr/>
        </p:nvSpPr>
        <p:spPr>
          <a:xfrm>
            <a:off x="1965960" y="2395728"/>
            <a:ext cx="1828800" cy="329184"/>
          </a:xfrm>
          <a:prstGeom prst="rect">
            <a:avLst/>
          </a:prstGeom>
          <a:solidFill>
            <a:srgbClr val="FFFFFF"/>
          </a:solidFill>
          <a:ln w="12700">
            <a:solidFill>
              <a:srgbClr val="FFFFFF"/>
            </a:solidFill>
            <a:prstDash val="solid"/>
          </a:ln>
        </p:spPr>
        <p:txBody>
          <a:bodyPr/>
          <a:lstStyle/>
          <a:p>
            <a:endParaRPr lang="ro-RO"/>
          </a:p>
        </p:txBody>
      </p:sp>
      <p:sp>
        <p:nvSpPr>
          <p:cNvPr id="32" name="Text 30"/>
          <p:cNvSpPr/>
          <p:nvPr/>
        </p:nvSpPr>
        <p:spPr>
          <a:xfrm>
            <a:off x="2011680" y="2395728"/>
            <a:ext cx="1737360" cy="329184"/>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idx_data_tranzactie</a:t>
            </a:r>
            <a:endParaRPr lang="en-US" sz="1100" dirty="0"/>
          </a:p>
        </p:txBody>
      </p:sp>
      <p:sp>
        <p:nvSpPr>
          <p:cNvPr id="33" name="Shape 31"/>
          <p:cNvSpPr/>
          <p:nvPr/>
        </p:nvSpPr>
        <p:spPr>
          <a:xfrm>
            <a:off x="3794760" y="2395728"/>
            <a:ext cx="822960" cy="329184"/>
          </a:xfrm>
          <a:prstGeom prst="rect">
            <a:avLst/>
          </a:prstGeom>
          <a:solidFill>
            <a:srgbClr val="FFFFFF"/>
          </a:solidFill>
          <a:ln w="12700">
            <a:solidFill>
              <a:srgbClr val="FFFFFF"/>
            </a:solidFill>
            <a:prstDash val="solid"/>
          </a:ln>
        </p:spPr>
        <p:txBody>
          <a:bodyPr/>
          <a:lstStyle/>
          <a:p>
            <a:endParaRPr lang="ro-RO"/>
          </a:p>
        </p:txBody>
      </p:sp>
      <p:sp>
        <p:nvSpPr>
          <p:cNvPr id="34" name="Text 32"/>
          <p:cNvSpPr/>
          <p:nvPr/>
        </p:nvSpPr>
        <p:spPr>
          <a:xfrm>
            <a:off x="3840480" y="2395728"/>
            <a:ext cx="731520" cy="329184"/>
          </a:xfrm>
          <a:prstGeom prst="rect">
            <a:avLst/>
          </a:prstGeom>
          <a:noFill/>
          <a:ln/>
        </p:spPr>
        <p:txBody>
          <a:bodyPr wrap="square" lIns="0" tIns="0" rIns="0" bIns="0" rtlCol="0" anchor="ctr"/>
          <a:lstStyle/>
          <a:p>
            <a:pPr marL="0" indent="0">
              <a:buNone/>
            </a:pPr>
            <a:r>
              <a:rPr lang="en-US" sz="1100" b="1" dirty="0">
                <a:solidFill>
                  <a:srgbClr val="2ECC71"/>
                </a:solidFill>
                <a:latin typeface="Calibri" pitchFamily="34" charset="0"/>
                <a:ea typeface="Calibri" pitchFamily="34" charset="-122"/>
                <a:cs typeface="Calibri" pitchFamily="34" charset="-120"/>
              </a:rPr>
              <a:t>INDEX</a:t>
            </a:r>
            <a:endParaRPr lang="en-US" sz="1100" dirty="0"/>
          </a:p>
        </p:txBody>
      </p:sp>
      <p:sp>
        <p:nvSpPr>
          <p:cNvPr id="35" name="Shape 33"/>
          <p:cNvSpPr/>
          <p:nvPr/>
        </p:nvSpPr>
        <p:spPr>
          <a:xfrm>
            <a:off x="4617720" y="2395728"/>
            <a:ext cx="3566160" cy="329184"/>
          </a:xfrm>
          <a:prstGeom prst="rect">
            <a:avLst/>
          </a:prstGeom>
          <a:solidFill>
            <a:srgbClr val="FFFFFF"/>
          </a:solidFill>
          <a:ln w="12700">
            <a:solidFill>
              <a:srgbClr val="FFFFFF"/>
            </a:solidFill>
            <a:prstDash val="solid"/>
          </a:ln>
        </p:spPr>
        <p:txBody>
          <a:bodyPr/>
          <a:lstStyle/>
          <a:p>
            <a:endParaRPr lang="ro-RO"/>
          </a:p>
        </p:txBody>
      </p:sp>
      <p:sp>
        <p:nvSpPr>
          <p:cNvPr id="36" name="Text 34"/>
          <p:cNvSpPr/>
          <p:nvPr/>
        </p:nvSpPr>
        <p:spPr>
          <a:xfrm>
            <a:off x="4663440" y="2395728"/>
            <a:ext cx="3474720" cy="329184"/>
          </a:xfrm>
          <a:prstGeom prst="rect">
            <a:avLst/>
          </a:prstGeom>
          <a:noFill/>
          <a:ln/>
        </p:spPr>
        <p:txBody>
          <a:bodyPr wrap="square" lIns="0" tIns="0" rIns="0" bIns="0" rtlCol="0" anchor="ctr"/>
          <a:lstStyle/>
          <a:p>
            <a:pPr marL="0" indent="0">
              <a:buNone/>
            </a:pPr>
            <a:r>
              <a:rPr lang="en-US" sz="1100">
                <a:solidFill>
                  <a:srgbClr val="0A1628"/>
                </a:solidFill>
                <a:latin typeface="Calibri" pitchFamily="34" charset="0"/>
                <a:ea typeface="Calibri" pitchFamily="34" charset="-122"/>
                <a:cs typeface="Calibri" pitchFamily="34" charset="-120"/>
              </a:rPr>
              <a:t>	Filtrare </a:t>
            </a:r>
            <a:r>
              <a:rPr lang="en-US" sz="1100" dirty="0">
                <a:solidFill>
                  <a:srgbClr val="0A1628"/>
                </a:solidFill>
                <a:latin typeface="Calibri" pitchFamily="34" charset="0"/>
                <a:ea typeface="Calibri" pitchFamily="34" charset="-122"/>
                <a:cs typeface="Calibri" pitchFamily="34" charset="-120"/>
              </a:rPr>
              <a:t>după dată (extrase)</a:t>
            </a:r>
            <a:endParaRPr lang="en-US" sz="1100" dirty="0"/>
          </a:p>
        </p:txBody>
      </p:sp>
      <p:sp>
        <p:nvSpPr>
          <p:cNvPr id="37" name="Shape 35"/>
          <p:cNvSpPr/>
          <p:nvPr/>
        </p:nvSpPr>
        <p:spPr>
          <a:xfrm>
            <a:off x="320040" y="2743200"/>
            <a:ext cx="1645920" cy="329184"/>
          </a:xfrm>
          <a:prstGeom prst="rect">
            <a:avLst/>
          </a:prstGeom>
          <a:solidFill>
            <a:srgbClr val="E8EDF5"/>
          </a:solidFill>
          <a:ln w="12700">
            <a:solidFill>
              <a:srgbClr val="E8EDF5"/>
            </a:solidFill>
            <a:prstDash val="solid"/>
          </a:ln>
        </p:spPr>
        <p:txBody>
          <a:bodyPr/>
          <a:lstStyle/>
          <a:p>
            <a:endParaRPr lang="ro-RO"/>
          </a:p>
        </p:txBody>
      </p:sp>
      <p:sp>
        <p:nvSpPr>
          <p:cNvPr id="38" name="Text 36"/>
          <p:cNvSpPr/>
          <p:nvPr/>
        </p:nvSpPr>
        <p:spPr>
          <a:xfrm>
            <a:off x="365760" y="2743200"/>
            <a:ext cx="1554480" cy="329184"/>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transferuri</a:t>
            </a:r>
            <a:endParaRPr lang="en-US" sz="1100" dirty="0"/>
          </a:p>
        </p:txBody>
      </p:sp>
      <p:sp>
        <p:nvSpPr>
          <p:cNvPr id="39" name="Shape 37"/>
          <p:cNvSpPr/>
          <p:nvPr/>
        </p:nvSpPr>
        <p:spPr>
          <a:xfrm>
            <a:off x="1965960" y="2743200"/>
            <a:ext cx="1828800" cy="329184"/>
          </a:xfrm>
          <a:prstGeom prst="rect">
            <a:avLst/>
          </a:prstGeom>
          <a:solidFill>
            <a:srgbClr val="E8EDF5"/>
          </a:solidFill>
          <a:ln w="12700">
            <a:solidFill>
              <a:srgbClr val="E8EDF5"/>
            </a:solidFill>
            <a:prstDash val="solid"/>
          </a:ln>
        </p:spPr>
        <p:txBody>
          <a:bodyPr/>
          <a:lstStyle/>
          <a:p>
            <a:endParaRPr lang="ro-RO"/>
          </a:p>
        </p:txBody>
      </p:sp>
      <p:sp>
        <p:nvSpPr>
          <p:cNvPr id="40" name="Text 38"/>
          <p:cNvSpPr/>
          <p:nvPr/>
        </p:nvSpPr>
        <p:spPr>
          <a:xfrm>
            <a:off x="2011680" y="2743200"/>
            <a:ext cx="1737360" cy="329184"/>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idx_data_transfer</a:t>
            </a:r>
            <a:endParaRPr lang="en-US" sz="1100" dirty="0"/>
          </a:p>
        </p:txBody>
      </p:sp>
      <p:sp>
        <p:nvSpPr>
          <p:cNvPr id="41" name="Shape 39"/>
          <p:cNvSpPr/>
          <p:nvPr/>
        </p:nvSpPr>
        <p:spPr>
          <a:xfrm>
            <a:off x="3794760" y="2743200"/>
            <a:ext cx="822960" cy="329184"/>
          </a:xfrm>
          <a:prstGeom prst="rect">
            <a:avLst/>
          </a:prstGeom>
          <a:solidFill>
            <a:srgbClr val="E8EDF5"/>
          </a:solidFill>
          <a:ln w="12700">
            <a:solidFill>
              <a:srgbClr val="E8EDF5"/>
            </a:solidFill>
            <a:prstDash val="solid"/>
          </a:ln>
        </p:spPr>
        <p:txBody>
          <a:bodyPr/>
          <a:lstStyle/>
          <a:p>
            <a:endParaRPr lang="ro-RO"/>
          </a:p>
        </p:txBody>
      </p:sp>
      <p:sp>
        <p:nvSpPr>
          <p:cNvPr id="42" name="Text 40"/>
          <p:cNvSpPr/>
          <p:nvPr/>
        </p:nvSpPr>
        <p:spPr>
          <a:xfrm>
            <a:off x="3840480" y="2743200"/>
            <a:ext cx="731520" cy="329184"/>
          </a:xfrm>
          <a:prstGeom prst="rect">
            <a:avLst/>
          </a:prstGeom>
          <a:noFill/>
          <a:ln/>
        </p:spPr>
        <p:txBody>
          <a:bodyPr wrap="square" lIns="0" tIns="0" rIns="0" bIns="0" rtlCol="0" anchor="ctr"/>
          <a:lstStyle/>
          <a:p>
            <a:pPr marL="0" indent="0">
              <a:buNone/>
            </a:pPr>
            <a:r>
              <a:rPr lang="en-US" sz="1100" b="1" dirty="0">
                <a:solidFill>
                  <a:srgbClr val="2ECC71"/>
                </a:solidFill>
                <a:latin typeface="Calibri" pitchFamily="34" charset="0"/>
                <a:ea typeface="Calibri" pitchFamily="34" charset="-122"/>
                <a:cs typeface="Calibri" pitchFamily="34" charset="-120"/>
              </a:rPr>
              <a:t>INDEX</a:t>
            </a:r>
            <a:endParaRPr lang="en-US" sz="1100" dirty="0"/>
          </a:p>
        </p:txBody>
      </p:sp>
      <p:sp>
        <p:nvSpPr>
          <p:cNvPr id="43" name="Shape 41"/>
          <p:cNvSpPr/>
          <p:nvPr/>
        </p:nvSpPr>
        <p:spPr>
          <a:xfrm>
            <a:off x="4617720" y="2743200"/>
            <a:ext cx="3566160" cy="329184"/>
          </a:xfrm>
          <a:prstGeom prst="rect">
            <a:avLst/>
          </a:prstGeom>
          <a:solidFill>
            <a:srgbClr val="E8EDF5"/>
          </a:solidFill>
          <a:ln w="12700">
            <a:solidFill>
              <a:srgbClr val="E8EDF5"/>
            </a:solidFill>
            <a:prstDash val="solid"/>
          </a:ln>
        </p:spPr>
        <p:txBody>
          <a:bodyPr/>
          <a:lstStyle/>
          <a:p>
            <a:endParaRPr lang="ro-RO"/>
          </a:p>
        </p:txBody>
      </p:sp>
      <p:sp>
        <p:nvSpPr>
          <p:cNvPr id="44" name="Text 42"/>
          <p:cNvSpPr/>
          <p:nvPr/>
        </p:nvSpPr>
        <p:spPr>
          <a:xfrm>
            <a:off x="4663440" y="2743200"/>
            <a:ext cx="3474720" cy="329184"/>
          </a:xfrm>
          <a:prstGeom prst="rect">
            <a:avLst/>
          </a:prstGeom>
          <a:noFill/>
          <a:ln/>
        </p:spPr>
        <p:txBody>
          <a:bodyPr wrap="square" lIns="0" tIns="0" rIns="0" bIns="0" rtlCol="0" anchor="ctr"/>
          <a:lstStyle/>
          <a:p>
            <a:pPr marL="0" indent="0">
              <a:buNone/>
            </a:pPr>
            <a:r>
              <a:rPr lang="en-US" sz="1100">
                <a:solidFill>
                  <a:srgbClr val="0A1628"/>
                </a:solidFill>
                <a:latin typeface="Calibri" pitchFamily="34" charset="0"/>
                <a:ea typeface="Calibri" pitchFamily="34" charset="-122"/>
                <a:cs typeface="Calibri" pitchFamily="34" charset="-120"/>
              </a:rPr>
              <a:t>	Detectare </a:t>
            </a:r>
            <a:r>
              <a:rPr lang="en-US" sz="1100" dirty="0">
                <a:solidFill>
                  <a:srgbClr val="0A1628"/>
                </a:solidFill>
                <a:latin typeface="Calibri" pitchFamily="34" charset="0"/>
                <a:ea typeface="Calibri" pitchFamily="34" charset="-122"/>
                <a:cs typeface="Calibri" pitchFamily="34" charset="-120"/>
              </a:rPr>
              <a:t>fraudă 24h</a:t>
            </a:r>
            <a:endParaRPr lang="en-US" sz="1100" dirty="0"/>
          </a:p>
        </p:txBody>
      </p:sp>
      <p:sp>
        <p:nvSpPr>
          <p:cNvPr id="45" name="Shape 43"/>
          <p:cNvSpPr/>
          <p:nvPr/>
        </p:nvSpPr>
        <p:spPr>
          <a:xfrm>
            <a:off x="320040" y="3090672"/>
            <a:ext cx="1645920" cy="329184"/>
          </a:xfrm>
          <a:prstGeom prst="rect">
            <a:avLst/>
          </a:prstGeom>
          <a:solidFill>
            <a:srgbClr val="FFFFFF"/>
          </a:solidFill>
          <a:ln w="12700">
            <a:solidFill>
              <a:srgbClr val="FFFFFF"/>
            </a:solidFill>
            <a:prstDash val="solid"/>
          </a:ln>
        </p:spPr>
        <p:txBody>
          <a:bodyPr/>
          <a:lstStyle/>
          <a:p>
            <a:endParaRPr lang="ro-RO"/>
          </a:p>
        </p:txBody>
      </p:sp>
      <p:sp>
        <p:nvSpPr>
          <p:cNvPr id="46" name="Text 44"/>
          <p:cNvSpPr/>
          <p:nvPr/>
        </p:nvSpPr>
        <p:spPr>
          <a:xfrm>
            <a:off x="365760" y="3090672"/>
            <a:ext cx="1554480" cy="329184"/>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audit_solduri</a:t>
            </a:r>
            <a:endParaRPr lang="en-US" sz="1100" dirty="0"/>
          </a:p>
        </p:txBody>
      </p:sp>
      <p:sp>
        <p:nvSpPr>
          <p:cNvPr id="47" name="Shape 45"/>
          <p:cNvSpPr/>
          <p:nvPr/>
        </p:nvSpPr>
        <p:spPr>
          <a:xfrm>
            <a:off x="1965960" y="3090672"/>
            <a:ext cx="1828800" cy="329184"/>
          </a:xfrm>
          <a:prstGeom prst="rect">
            <a:avLst/>
          </a:prstGeom>
          <a:solidFill>
            <a:srgbClr val="FFFFFF"/>
          </a:solidFill>
          <a:ln w="12700">
            <a:solidFill>
              <a:srgbClr val="FFFFFF"/>
            </a:solidFill>
            <a:prstDash val="solid"/>
          </a:ln>
        </p:spPr>
        <p:txBody>
          <a:bodyPr/>
          <a:lstStyle/>
          <a:p>
            <a:endParaRPr lang="ro-RO"/>
          </a:p>
        </p:txBody>
      </p:sp>
      <p:sp>
        <p:nvSpPr>
          <p:cNvPr id="48" name="Text 46"/>
          <p:cNvSpPr/>
          <p:nvPr/>
        </p:nvSpPr>
        <p:spPr>
          <a:xfrm>
            <a:off x="2011680" y="3090672"/>
            <a:ext cx="1737360" cy="329184"/>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idx_audit_cont</a:t>
            </a:r>
            <a:endParaRPr lang="en-US" sz="1100" dirty="0"/>
          </a:p>
        </p:txBody>
      </p:sp>
      <p:sp>
        <p:nvSpPr>
          <p:cNvPr id="49" name="Shape 47"/>
          <p:cNvSpPr/>
          <p:nvPr/>
        </p:nvSpPr>
        <p:spPr>
          <a:xfrm>
            <a:off x="3794760" y="3090672"/>
            <a:ext cx="822960" cy="329184"/>
          </a:xfrm>
          <a:prstGeom prst="rect">
            <a:avLst/>
          </a:prstGeom>
          <a:solidFill>
            <a:srgbClr val="FFFFFF"/>
          </a:solidFill>
          <a:ln w="12700">
            <a:solidFill>
              <a:srgbClr val="FFFFFF"/>
            </a:solidFill>
            <a:prstDash val="solid"/>
          </a:ln>
        </p:spPr>
        <p:txBody>
          <a:bodyPr/>
          <a:lstStyle/>
          <a:p>
            <a:endParaRPr lang="ro-RO"/>
          </a:p>
        </p:txBody>
      </p:sp>
      <p:sp>
        <p:nvSpPr>
          <p:cNvPr id="50" name="Text 48"/>
          <p:cNvSpPr/>
          <p:nvPr/>
        </p:nvSpPr>
        <p:spPr>
          <a:xfrm>
            <a:off x="3840480" y="3090672"/>
            <a:ext cx="731520" cy="329184"/>
          </a:xfrm>
          <a:prstGeom prst="rect">
            <a:avLst/>
          </a:prstGeom>
          <a:noFill/>
          <a:ln/>
        </p:spPr>
        <p:txBody>
          <a:bodyPr wrap="square" lIns="0" tIns="0" rIns="0" bIns="0" rtlCol="0" anchor="ctr"/>
          <a:lstStyle/>
          <a:p>
            <a:pPr marL="0" indent="0">
              <a:buNone/>
            </a:pPr>
            <a:r>
              <a:rPr lang="en-US" sz="1100" b="1" dirty="0">
                <a:solidFill>
                  <a:srgbClr val="2ECC71"/>
                </a:solidFill>
                <a:latin typeface="Calibri" pitchFamily="34" charset="0"/>
                <a:ea typeface="Calibri" pitchFamily="34" charset="-122"/>
                <a:cs typeface="Calibri" pitchFamily="34" charset="-120"/>
              </a:rPr>
              <a:t>INDEX</a:t>
            </a:r>
            <a:endParaRPr lang="en-US" sz="1100" dirty="0"/>
          </a:p>
        </p:txBody>
      </p:sp>
      <p:sp>
        <p:nvSpPr>
          <p:cNvPr id="51" name="Shape 49"/>
          <p:cNvSpPr/>
          <p:nvPr/>
        </p:nvSpPr>
        <p:spPr>
          <a:xfrm>
            <a:off x="4617720" y="3090672"/>
            <a:ext cx="3566160" cy="329184"/>
          </a:xfrm>
          <a:prstGeom prst="rect">
            <a:avLst/>
          </a:prstGeom>
          <a:solidFill>
            <a:srgbClr val="FFFFFF"/>
          </a:solidFill>
          <a:ln w="12700">
            <a:solidFill>
              <a:srgbClr val="FFFFFF"/>
            </a:solidFill>
            <a:prstDash val="solid"/>
          </a:ln>
        </p:spPr>
        <p:txBody>
          <a:bodyPr/>
          <a:lstStyle/>
          <a:p>
            <a:endParaRPr lang="ro-RO"/>
          </a:p>
        </p:txBody>
      </p:sp>
      <p:sp>
        <p:nvSpPr>
          <p:cNvPr id="52" name="Text 50"/>
          <p:cNvSpPr/>
          <p:nvPr/>
        </p:nvSpPr>
        <p:spPr>
          <a:xfrm>
            <a:off x="4663440" y="3090672"/>
            <a:ext cx="3474720" cy="329184"/>
          </a:xfrm>
          <a:prstGeom prst="rect">
            <a:avLst/>
          </a:prstGeom>
          <a:noFill/>
          <a:ln/>
        </p:spPr>
        <p:txBody>
          <a:bodyPr wrap="square" lIns="0" tIns="0" rIns="0" bIns="0" rtlCol="0" anchor="ctr"/>
          <a:lstStyle/>
          <a:p>
            <a:pPr marL="0" indent="0">
              <a:buNone/>
            </a:pPr>
            <a:r>
              <a:rPr lang="en-US" sz="1100">
                <a:solidFill>
                  <a:srgbClr val="0A1628"/>
                </a:solidFill>
                <a:latin typeface="Calibri" pitchFamily="34" charset="0"/>
                <a:ea typeface="Calibri" pitchFamily="34" charset="-122"/>
                <a:cs typeface="Calibri" pitchFamily="34" charset="-120"/>
              </a:rPr>
              <a:t>	Audit </a:t>
            </a:r>
            <a:r>
              <a:rPr lang="en-US" sz="1100" dirty="0">
                <a:solidFill>
                  <a:srgbClr val="0A1628"/>
                </a:solidFill>
                <a:latin typeface="Calibri" pitchFamily="34" charset="0"/>
                <a:ea typeface="Calibri" pitchFamily="34" charset="-122"/>
                <a:cs typeface="Calibri" pitchFamily="34" charset="-120"/>
              </a:rPr>
              <a:t>rapid per cont</a:t>
            </a:r>
            <a:endParaRPr lang="en-US" sz="1100" dirty="0"/>
          </a:p>
        </p:txBody>
      </p:sp>
      <p:sp>
        <p:nvSpPr>
          <p:cNvPr id="53" name="Shape 51"/>
          <p:cNvSpPr/>
          <p:nvPr/>
        </p:nvSpPr>
        <p:spPr>
          <a:xfrm>
            <a:off x="320040" y="3438144"/>
            <a:ext cx="1645920" cy="329184"/>
          </a:xfrm>
          <a:prstGeom prst="rect">
            <a:avLst/>
          </a:prstGeom>
          <a:solidFill>
            <a:srgbClr val="E8EDF5"/>
          </a:solidFill>
          <a:ln w="12700">
            <a:solidFill>
              <a:srgbClr val="E8EDF5"/>
            </a:solidFill>
            <a:prstDash val="solid"/>
          </a:ln>
        </p:spPr>
        <p:txBody>
          <a:bodyPr/>
          <a:lstStyle/>
          <a:p>
            <a:endParaRPr lang="ro-RO"/>
          </a:p>
        </p:txBody>
      </p:sp>
      <p:sp>
        <p:nvSpPr>
          <p:cNvPr id="54" name="Text 52"/>
          <p:cNvSpPr/>
          <p:nvPr/>
        </p:nvSpPr>
        <p:spPr>
          <a:xfrm>
            <a:off x="365760" y="3438144"/>
            <a:ext cx="1554480" cy="329184"/>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clienti</a:t>
            </a:r>
            <a:endParaRPr lang="en-US" sz="1100" dirty="0"/>
          </a:p>
        </p:txBody>
      </p:sp>
      <p:sp>
        <p:nvSpPr>
          <p:cNvPr id="55" name="Shape 53"/>
          <p:cNvSpPr/>
          <p:nvPr/>
        </p:nvSpPr>
        <p:spPr>
          <a:xfrm>
            <a:off x="1965960" y="3438144"/>
            <a:ext cx="1828800" cy="329184"/>
          </a:xfrm>
          <a:prstGeom prst="rect">
            <a:avLst/>
          </a:prstGeom>
          <a:solidFill>
            <a:srgbClr val="E8EDF5"/>
          </a:solidFill>
          <a:ln w="12700">
            <a:solidFill>
              <a:srgbClr val="E8EDF5"/>
            </a:solidFill>
            <a:prstDash val="solid"/>
          </a:ln>
        </p:spPr>
        <p:txBody>
          <a:bodyPr/>
          <a:lstStyle/>
          <a:p>
            <a:endParaRPr lang="ro-RO"/>
          </a:p>
        </p:txBody>
      </p:sp>
      <p:sp>
        <p:nvSpPr>
          <p:cNvPr id="56" name="Text 54"/>
          <p:cNvSpPr/>
          <p:nvPr/>
        </p:nvSpPr>
        <p:spPr>
          <a:xfrm>
            <a:off x="2011680" y="3438144"/>
            <a:ext cx="1737360" cy="329184"/>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email</a:t>
            </a:r>
            <a:endParaRPr lang="en-US" sz="1100" dirty="0"/>
          </a:p>
        </p:txBody>
      </p:sp>
      <p:sp>
        <p:nvSpPr>
          <p:cNvPr id="57" name="Shape 55"/>
          <p:cNvSpPr/>
          <p:nvPr/>
        </p:nvSpPr>
        <p:spPr>
          <a:xfrm>
            <a:off x="3794760" y="3438144"/>
            <a:ext cx="822960" cy="329184"/>
          </a:xfrm>
          <a:prstGeom prst="rect">
            <a:avLst/>
          </a:prstGeom>
          <a:solidFill>
            <a:srgbClr val="E8EDF5"/>
          </a:solidFill>
          <a:ln w="12700">
            <a:solidFill>
              <a:srgbClr val="E8EDF5"/>
            </a:solidFill>
            <a:prstDash val="solid"/>
          </a:ln>
        </p:spPr>
        <p:txBody>
          <a:bodyPr/>
          <a:lstStyle/>
          <a:p>
            <a:endParaRPr lang="ro-RO"/>
          </a:p>
        </p:txBody>
      </p:sp>
      <p:sp>
        <p:nvSpPr>
          <p:cNvPr id="58" name="Text 56"/>
          <p:cNvSpPr/>
          <p:nvPr/>
        </p:nvSpPr>
        <p:spPr>
          <a:xfrm>
            <a:off x="3840480" y="3438144"/>
            <a:ext cx="731520" cy="329184"/>
          </a:xfrm>
          <a:prstGeom prst="rect">
            <a:avLst/>
          </a:prstGeom>
          <a:noFill/>
          <a:ln/>
        </p:spPr>
        <p:txBody>
          <a:bodyPr wrap="square" lIns="0" tIns="0" rIns="0" bIns="0" rtlCol="0" anchor="ctr"/>
          <a:lstStyle/>
          <a:p>
            <a:pPr marL="0" indent="0">
              <a:buNone/>
            </a:pPr>
            <a:r>
              <a:rPr lang="en-US" sz="1100" b="1" dirty="0">
                <a:solidFill>
                  <a:srgbClr val="E74C3C"/>
                </a:solidFill>
                <a:latin typeface="Calibri" pitchFamily="34" charset="0"/>
                <a:ea typeface="Calibri" pitchFamily="34" charset="-122"/>
                <a:cs typeface="Calibri" pitchFamily="34" charset="-120"/>
              </a:rPr>
              <a:t>UNIQUE</a:t>
            </a:r>
            <a:endParaRPr lang="en-US" sz="1100" dirty="0"/>
          </a:p>
        </p:txBody>
      </p:sp>
      <p:sp>
        <p:nvSpPr>
          <p:cNvPr id="59" name="Shape 57"/>
          <p:cNvSpPr/>
          <p:nvPr/>
        </p:nvSpPr>
        <p:spPr>
          <a:xfrm>
            <a:off x="4617720" y="3438144"/>
            <a:ext cx="3566160" cy="329184"/>
          </a:xfrm>
          <a:prstGeom prst="rect">
            <a:avLst/>
          </a:prstGeom>
          <a:solidFill>
            <a:srgbClr val="E8EDF5"/>
          </a:solidFill>
          <a:ln w="12700">
            <a:solidFill>
              <a:srgbClr val="E8EDF5"/>
            </a:solidFill>
            <a:prstDash val="solid"/>
          </a:ln>
        </p:spPr>
        <p:txBody>
          <a:bodyPr/>
          <a:lstStyle/>
          <a:p>
            <a:endParaRPr lang="ro-RO"/>
          </a:p>
        </p:txBody>
      </p:sp>
      <p:sp>
        <p:nvSpPr>
          <p:cNvPr id="60" name="Text 58"/>
          <p:cNvSpPr/>
          <p:nvPr/>
        </p:nvSpPr>
        <p:spPr>
          <a:xfrm>
            <a:off x="4663440" y="3438144"/>
            <a:ext cx="3474720" cy="329184"/>
          </a:xfrm>
          <a:prstGeom prst="rect">
            <a:avLst/>
          </a:prstGeom>
          <a:noFill/>
          <a:ln/>
        </p:spPr>
        <p:txBody>
          <a:bodyPr wrap="square" lIns="0" tIns="0" rIns="0" bIns="0" rtlCol="0" anchor="ctr"/>
          <a:lstStyle/>
          <a:p>
            <a:pPr marL="0" indent="0">
              <a:buNone/>
            </a:pPr>
            <a:r>
              <a:rPr lang="en-US" sz="1100">
                <a:solidFill>
                  <a:srgbClr val="0A1628"/>
                </a:solidFill>
                <a:latin typeface="Calibri" pitchFamily="34" charset="0"/>
                <a:ea typeface="Calibri" pitchFamily="34" charset="-122"/>
                <a:cs typeface="Calibri" pitchFamily="34" charset="-120"/>
              </a:rPr>
              <a:t>	Autentificare</a:t>
            </a:r>
            <a:r>
              <a:rPr lang="en-US" sz="1100" dirty="0">
                <a:solidFill>
                  <a:srgbClr val="0A1628"/>
                </a:solidFill>
                <a:latin typeface="Calibri" pitchFamily="34" charset="0"/>
                <a:ea typeface="Calibri" pitchFamily="34" charset="-122"/>
                <a:cs typeface="Calibri" pitchFamily="34" charset="-120"/>
              </a:rPr>
              <a:t>, unicitate</a:t>
            </a:r>
            <a:endParaRPr lang="en-US" sz="1100" dirty="0"/>
          </a:p>
        </p:txBody>
      </p:sp>
      <p:sp>
        <p:nvSpPr>
          <p:cNvPr id="61" name="Shape 59"/>
          <p:cNvSpPr/>
          <p:nvPr/>
        </p:nvSpPr>
        <p:spPr>
          <a:xfrm>
            <a:off x="320040" y="3785616"/>
            <a:ext cx="1645920" cy="329184"/>
          </a:xfrm>
          <a:prstGeom prst="rect">
            <a:avLst/>
          </a:prstGeom>
          <a:solidFill>
            <a:srgbClr val="FFFFFF"/>
          </a:solidFill>
          <a:ln w="12700">
            <a:solidFill>
              <a:srgbClr val="FFFFFF"/>
            </a:solidFill>
            <a:prstDash val="solid"/>
          </a:ln>
        </p:spPr>
        <p:txBody>
          <a:bodyPr/>
          <a:lstStyle/>
          <a:p>
            <a:endParaRPr lang="ro-RO"/>
          </a:p>
        </p:txBody>
      </p:sp>
      <p:sp>
        <p:nvSpPr>
          <p:cNvPr id="62" name="Text 60"/>
          <p:cNvSpPr/>
          <p:nvPr/>
        </p:nvSpPr>
        <p:spPr>
          <a:xfrm>
            <a:off x="365760" y="3785616"/>
            <a:ext cx="1554480" cy="329184"/>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beneficiari</a:t>
            </a:r>
            <a:endParaRPr lang="en-US" sz="1100" dirty="0"/>
          </a:p>
        </p:txBody>
      </p:sp>
      <p:sp>
        <p:nvSpPr>
          <p:cNvPr id="63" name="Shape 61"/>
          <p:cNvSpPr/>
          <p:nvPr/>
        </p:nvSpPr>
        <p:spPr>
          <a:xfrm>
            <a:off x="1965960" y="3785616"/>
            <a:ext cx="1828800" cy="329184"/>
          </a:xfrm>
          <a:prstGeom prst="rect">
            <a:avLst/>
          </a:prstGeom>
          <a:solidFill>
            <a:srgbClr val="FFFFFF"/>
          </a:solidFill>
          <a:ln w="12700">
            <a:solidFill>
              <a:srgbClr val="FFFFFF"/>
            </a:solidFill>
            <a:prstDash val="solid"/>
          </a:ln>
        </p:spPr>
        <p:txBody>
          <a:bodyPr/>
          <a:lstStyle/>
          <a:p>
            <a:endParaRPr lang="ro-RO"/>
          </a:p>
        </p:txBody>
      </p:sp>
      <p:sp>
        <p:nvSpPr>
          <p:cNvPr id="64" name="Text 62"/>
          <p:cNvSpPr/>
          <p:nvPr/>
        </p:nvSpPr>
        <p:spPr>
          <a:xfrm>
            <a:off x="2011680" y="3785616"/>
            <a:ext cx="1737360" cy="329184"/>
          </a:xfrm>
          <a:prstGeom prst="rect">
            <a:avLst/>
          </a:prstGeom>
          <a:noFill/>
          <a:ln/>
        </p:spPr>
        <p:txBody>
          <a:bodyPr wrap="square" lIns="0" tIns="0" rIns="0" bIns="0" rtlCol="0" anchor="ctr"/>
          <a:lstStyle/>
          <a:p>
            <a:pPr marL="0" indent="0">
              <a:buNone/>
            </a:pPr>
            <a:r>
              <a:rPr lang="en-US" sz="1100" dirty="0">
                <a:solidFill>
                  <a:srgbClr val="0A1628"/>
                </a:solidFill>
                <a:latin typeface="Calibri" pitchFamily="34" charset="0"/>
                <a:ea typeface="Calibri" pitchFamily="34" charset="-122"/>
                <a:cs typeface="Calibri" pitchFamily="34" charset="-120"/>
              </a:rPr>
              <a:t>fk_beneficiar_iban</a:t>
            </a:r>
            <a:endParaRPr lang="en-US" sz="1100" dirty="0"/>
          </a:p>
        </p:txBody>
      </p:sp>
      <p:sp>
        <p:nvSpPr>
          <p:cNvPr id="65" name="Shape 63"/>
          <p:cNvSpPr/>
          <p:nvPr/>
        </p:nvSpPr>
        <p:spPr>
          <a:xfrm>
            <a:off x="3794760" y="3785616"/>
            <a:ext cx="822960" cy="329184"/>
          </a:xfrm>
          <a:prstGeom prst="rect">
            <a:avLst/>
          </a:prstGeom>
          <a:solidFill>
            <a:srgbClr val="FFFFFF"/>
          </a:solidFill>
          <a:ln w="12700">
            <a:solidFill>
              <a:srgbClr val="FFFFFF"/>
            </a:solidFill>
            <a:prstDash val="solid"/>
          </a:ln>
        </p:spPr>
        <p:txBody>
          <a:bodyPr/>
          <a:lstStyle/>
          <a:p>
            <a:endParaRPr lang="ro-RO"/>
          </a:p>
        </p:txBody>
      </p:sp>
      <p:sp>
        <p:nvSpPr>
          <p:cNvPr id="66" name="Text 64"/>
          <p:cNvSpPr/>
          <p:nvPr/>
        </p:nvSpPr>
        <p:spPr>
          <a:xfrm>
            <a:off x="3840480" y="3785616"/>
            <a:ext cx="731520" cy="329184"/>
          </a:xfrm>
          <a:prstGeom prst="rect">
            <a:avLst/>
          </a:prstGeom>
          <a:noFill/>
          <a:ln/>
        </p:spPr>
        <p:txBody>
          <a:bodyPr wrap="square" lIns="0" tIns="0" rIns="0" bIns="0" rtlCol="0" anchor="ctr"/>
          <a:lstStyle/>
          <a:p>
            <a:pPr marL="0" indent="0">
              <a:buNone/>
            </a:pPr>
            <a:r>
              <a:rPr lang="en-US" sz="1100" b="1" dirty="0">
                <a:solidFill>
                  <a:srgbClr val="2ECC71"/>
                </a:solidFill>
                <a:latin typeface="Calibri" pitchFamily="34" charset="0"/>
                <a:ea typeface="Calibri" pitchFamily="34" charset="-122"/>
                <a:cs typeface="Calibri" pitchFamily="34" charset="-120"/>
              </a:rPr>
              <a:t>INDEX</a:t>
            </a:r>
            <a:endParaRPr lang="en-US" sz="1100" dirty="0"/>
          </a:p>
        </p:txBody>
      </p:sp>
      <p:sp>
        <p:nvSpPr>
          <p:cNvPr id="67" name="Shape 65"/>
          <p:cNvSpPr/>
          <p:nvPr/>
        </p:nvSpPr>
        <p:spPr>
          <a:xfrm>
            <a:off x="4617720" y="3785616"/>
            <a:ext cx="3566160" cy="329184"/>
          </a:xfrm>
          <a:prstGeom prst="rect">
            <a:avLst/>
          </a:prstGeom>
          <a:solidFill>
            <a:srgbClr val="FFFFFF"/>
          </a:solidFill>
          <a:ln w="12700">
            <a:solidFill>
              <a:srgbClr val="FFFFFF"/>
            </a:solidFill>
            <a:prstDash val="solid"/>
          </a:ln>
        </p:spPr>
        <p:txBody>
          <a:bodyPr/>
          <a:lstStyle/>
          <a:p>
            <a:endParaRPr lang="ro-RO"/>
          </a:p>
        </p:txBody>
      </p:sp>
      <p:sp>
        <p:nvSpPr>
          <p:cNvPr id="68" name="Text 66"/>
          <p:cNvSpPr/>
          <p:nvPr/>
        </p:nvSpPr>
        <p:spPr>
          <a:xfrm>
            <a:off x="4663440" y="3785616"/>
            <a:ext cx="3474720" cy="329184"/>
          </a:xfrm>
          <a:prstGeom prst="rect">
            <a:avLst/>
          </a:prstGeom>
          <a:noFill/>
          <a:ln/>
        </p:spPr>
        <p:txBody>
          <a:bodyPr wrap="square" lIns="0" tIns="0" rIns="0" bIns="0" rtlCol="0" anchor="ctr"/>
          <a:lstStyle/>
          <a:p>
            <a:pPr marL="0" indent="0">
              <a:buNone/>
            </a:pPr>
            <a:r>
              <a:rPr lang="en-US" sz="1100">
                <a:solidFill>
                  <a:srgbClr val="0A1628"/>
                </a:solidFill>
                <a:latin typeface="Calibri" pitchFamily="34" charset="0"/>
                <a:ea typeface="Calibri" pitchFamily="34" charset="-122"/>
                <a:cs typeface="Calibri" pitchFamily="34" charset="-120"/>
              </a:rPr>
              <a:t>	JOIN </a:t>
            </a:r>
            <a:r>
              <a:rPr lang="en-US" sz="1100" dirty="0">
                <a:solidFill>
                  <a:srgbClr val="0A1628"/>
                </a:solidFill>
                <a:latin typeface="Calibri" pitchFamily="34" charset="0"/>
                <a:ea typeface="Calibri" pitchFamily="34" charset="-122"/>
                <a:cs typeface="Calibri" pitchFamily="34" charset="-120"/>
              </a:rPr>
              <a:t>pe IBAN beneficiar</a:t>
            </a:r>
            <a:endParaRPr lang="en-US" sz="1100" dirty="0"/>
          </a:p>
        </p:txBody>
      </p:sp>
      <p:sp>
        <p:nvSpPr>
          <p:cNvPr id="94" name="Shape 92"/>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ro-RO"/>
          </a:p>
        </p:txBody>
      </p:sp>
      <p:sp>
        <p:nvSpPr>
          <p:cNvPr id="95" name="Text 93"/>
          <p:cNvSpPr/>
          <p:nvPr/>
        </p:nvSpPr>
        <p:spPr>
          <a:xfrm>
            <a:off x="274320" y="4892040"/>
            <a:ext cx="8595360" cy="251460"/>
          </a:xfrm>
          <a:prstGeom prst="rect">
            <a:avLst/>
          </a:prstGeom>
          <a:noFill/>
          <a:ln/>
        </p:spPr>
        <p:txBody>
          <a:bodyPr wrap="square" lIns="0" tIns="0" rIns="0" bIns="0" rtlCol="0" anchor="ctr"/>
          <a:lstStyle/>
          <a:p>
            <a:pPr marL="0" indent="0">
              <a:buNone/>
            </a:pPr>
            <a:r>
              <a:rPr lang="en-US" sz="1000" dirty="0">
                <a:solidFill>
                  <a:srgbClr val="8FA3BF"/>
                </a:solidFill>
                <a:latin typeface="Calibri" pitchFamily="34" charset="0"/>
                <a:ea typeface="Calibri" pitchFamily="34" charset="-122"/>
                <a:cs typeface="Calibri" pitchFamily="34" charset="-120"/>
              </a:rPr>
              <a:t>Proiect 9 — Sistem Bancar Simplificat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9A84C"/>
          </a:solidFill>
          <a:ln w="12700">
            <a:solidFill>
              <a:srgbClr val="C9A84C"/>
            </a:solidFill>
            <a:prstDash val="solid"/>
          </a:ln>
        </p:spPr>
        <p:txBody>
          <a:bodyPr/>
          <a:lstStyle/>
          <a:p>
            <a:endParaRPr lang="ro-RO"/>
          </a:p>
        </p:txBody>
      </p:sp>
      <p:sp>
        <p:nvSpPr>
          <p:cNvPr id="3" name="Text 1"/>
          <p:cNvSpPr/>
          <p:nvPr/>
        </p:nvSpPr>
        <p:spPr>
          <a:xfrm>
            <a:off x="365760" y="0"/>
            <a:ext cx="8412480" cy="822960"/>
          </a:xfrm>
          <a:prstGeom prst="rect">
            <a:avLst/>
          </a:prstGeom>
          <a:noFill/>
          <a:ln/>
        </p:spPr>
        <p:txBody>
          <a:bodyPr wrap="square" lIns="0" tIns="0" rIns="0" bIns="0" rtlCol="0" anchor="ctr"/>
          <a:lstStyle/>
          <a:p>
            <a:pPr marL="0" indent="0">
              <a:buNone/>
            </a:pPr>
            <a:r>
              <a:rPr lang="en-US" sz="2600" b="1" dirty="0">
                <a:solidFill>
                  <a:srgbClr val="0A1628"/>
                </a:solidFill>
                <a:latin typeface="Calibri" pitchFamily="34" charset="0"/>
                <a:ea typeface="Calibri" pitchFamily="34" charset="-122"/>
                <a:cs typeface="Calibri" pitchFamily="34" charset="-120"/>
              </a:rPr>
              <a:t>Aplicația Python &amp; Concluzii</a:t>
            </a:r>
            <a:endParaRPr lang="en-US" sz="2600" dirty="0"/>
          </a:p>
        </p:txBody>
      </p:sp>
      <p:sp>
        <p:nvSpPr>
          <p:cNvPr id="4" name="Text 2"/>
          <p:cNvSpPr/>
          <p:nvPr/>
        </p:nvSpPr>
        <p:spPr>
          <a:xfrm>
            <a:off x="320040" y="914400"/>
            <a:ext cx="4114800" cy="347472"/>
          </a:xfrm>
          <a:prstGeom prst="rect">
            <a:avLst/>
          </a:prstGeom>
          <a:noFill/>
          <a:ln/>
        </p:spPr>
        <p:txBody>
          <a:bodyPr wrap="square" lIns="0" tIns="0" rIns="0" bIns="0" rtlCol="0" anchor="ctr"/>
          <a:lstStyle/>
          <a:p>
            <a:pPr marL="0" indent="0">
              <a:buNone/>
            </a:pPr>
            <a:r>
              <a:rPr lang="en-US" sz="1500" b="1" dirty="0">
                <a:latin typeface="Calibri" pitchFamily="34" charset="0"/>
                <a:ea typeface="Calibri" pitchFamily="34" charset="-122"/>
                <a:cs typeface="Calibri" pitchFamily="34" charset="-120"/>
              </a:rPr>
              <a:t>Interfața Python (CLI)</a:t>
            </a:r>
            <a:endParaRPr lang="en-US" sz="1500" dirty="0"/>
          </a:p>
        </p:txBody>
      </p:sp>
      <p:sp>
        <p:nvSpPr>
          <p:cNvPr id="5" name="Shape 3"/>
          <p:cNvSpPr/>
          <p:nvPr/>
        </p:nvSpPr>
        <p:spPr>
          <a:xfrm>
            <a:off x="320040" y="1325880"/>
            <a:ext cx="4069080" cy="530352"/>
          </a:xfrm>
          <a:prstGeom prst="rect">
            <a:avLst/>
          </a:prstGeom>
          <a:solidFill>
            <a:srgbClr val="112240"/>
          </a:solidFill>
          <a:ln w="12700">
            <a:solidFill>
              <a:srgbClr val="1A3560"/>
            </a:solidFill>
            <a:prstDash val="solid"/>
          </a:ln>
        </p:spPr>
        <p:txBody>
          <a:bodyPr/>
          <a:lstStyle/>
          <a:p>
            <a:endParaRPr lang="ro-RO"/>
          </a:p>
        </p:txBody>
      </p:sp>
      <p:sp>
        <p:nvSpPr>
          <p:cNvPr id="6" name="Text 4"/>
          <p:cNvSpPr/>
          <p:nvPr/>
        </p:nvSpPr>
        <p:spPr>
          <a:xfrm>
            <a:off x="457200" y="1344168"/>
            <a:ext cx="1371600" cy="219456"/>
          </a:xfrm>
          <a:prstGeom prst="rect">
            <a:avLst/>
          </a:prstGeom>
          <a:noFill/>
          <a:ln/>
        </p:spPr>
        <p:txBody>
          <a:bodyPr wrap="square" lIns="0" tIns="0" rIns="0" bIns="0" rtlCol="0" anchor="ctr"/>
          <a:lstStyle/>
          <a:p>
            <a:pPr marL="0" indent="0">
              <a:buNone/>
            </a:pPr>
            <a:r>
              <a:rPr lang="en-US" sz="1100" b="1" dirty="0">
                <a:solidFill>
                  <a:srgbClr val="00B4D8"/>
                </a:solidFill>
                <a:latin typeface="Consolas" pitchFamily="34" charset="0"/>
                <a:ea typeface="Consolas" pitchFamily="34" charset="-122"/>
                <a:cs typeface="Consolas" pitchFamily="34" charset="-120"/>
              </a:rPr>
              <a:t>main.py</a:t>
            </a:r>
            <a:endParaRPr lang="en-US" sz="1100" dirty="0"/>
          </a:p>
        </p:txBody>
      </p:sp>
      <p:sp>
        <p:nvSpPr>
          <p:cNvPr id="7" name="Text 5"/>
          <p:cNvSpPr/>
          <p:nvPr/>
        </p:nvSpPr>
        <p:spPr>
          <a:xfrm>
            <a:off x="457200" y="1581912"/>
            <a:ext cx="3794760" cy="256032"/>
          </a:xfrm>
          <a:prstGeom prst="rect">
            <a:avLst/>
          </a:prstGeom>
          <a:noFill/>
          <a:ln/>
        </p:spPr>
        <p:txBody>
          <a:bodyPr wrap="square" lIns="0" tIns="0" rIns="0" bIns="0" rtlCol="0" anchor="t"/>
          <a:lstStyle/>
          <a:p>
            <a:pPr marL="0" indent="0" algn="l">
              <a:buNone/>
            </a:pPr>
            <a:r>
              <a:rPr lang="en-US" sz="1000" dirty="0">
                <a:solidFill>
                  <a:srgbClr val="E8EDF5"/>
                </a:solidFill>
                <a:latin typeface="Calibri" pitchFamily="34" charset="0"/>
                <a:ea typeface="Calibri" pitchFamily="34" charset="-122"/>
                <a:cs typeface="Calibri" pitchFamily="34" charset="-120"/>
              </a:rPr>
              <a:t>Punct de intrare al aplicației. Meniu principal cu autentificare și routing către modulele funcționale.</a:t>
            </a:r>
            <a:endParaRPr lang="en-US" sz="1000" dirty="0"/>
          </a:p>
        </p:txBody>
      </p:sp>
      <p:sp>
        <p:nvSpPr>
          <p:cNvPr id="8" name="Shape 6"/>
          <p:cNvSpPr/>
          <p:nvPr/>
        </p:nvSpPr>
        <p:spPr>
          <a:xfrm>
            <a:off x="320040" y="1911096"/>
            <a:ext cx="4069080" cy="530352"/>
          </a:xfrm>
          <a:prstGeom prst="rect">
            <a:avLst/>
          </a:prstGeom>
          <a:solidFill>
            <a:srgbClr val="112240"/>
          </a:solidFill>
          <a:ln w="12700">
            <a:solidFill>
              <a:srgbClr val="1A3560"/>
            </a:solidFill>
            <a:prstDash val="solid"/>
          </a:ln>
        </p:spPr>
        <p:txBody>
          <a:bodyPr/>
          <a:lstStyle/>
          <a:p>
            <a:endParaRPr lang="ro-RO"/>
          </a:p>
        </p:txBody>
      </p:sp>
      <p:sp>
        <p:nvSpPr>
          <p:cNvPr id="9" name="Text 7"/>
          <p:cNvSpPr/>
          <p:nvPr/>
        </p:nvSpPr>
        <p:spPr>
          <a:xfrm>
            <a:off x="457200" y="1929384"/>
            <a:ext cx="1371600" cy="219456"/>
          </a:xfrm>
          <a:prstGeom prst="rect">
            <a:avLst/>
          </a:prstGeom>
          <a:noFill/>
          <a:ln/>
        </p:spPr>
        <p:txBody>
          <a:bodyPr wrap="square" lIns="0" tIns="0" rIns="0" bIns="0" rtlCol="0" anchor="ctr"/>
          <a:lstStyle/>
          <a:p>
            <a:pPr marL="0" indent="0">
              <a:buNone/>
            </a:pPr>
            <a:r>
              <a:rPr lang="en-US" sz="1100" b="1" dirty="0">
                <a:solidFill>
                  <a:srgbClr val="00B4D8"/>
                </a:solidFill>
                <a:latin typeface="Consolas" pitchFamily="34" charset="0"/>
                <a:ea typeface="Consolas" pitchFamily="34" charset="-122"/>
                <a:cs typeface="Consolas" pitchFamily="34" charset="-120"/>
              </a:rPr>
              <a:t>database.py</a:t>
            </a:r>
            <a:endParaRPr lang="en-US" sz="1100" dirty="0"/>
          </a:p>
        </p:txBody>
      </p:sp>
      <p:sp>
        <p:nvSpPr>
          <p:cNvPr id="10" name="Text 8"/>
          <p:cNvSpPr/>
          <p:nvPr/>
        </p:nvSpPr>
        <p:spPr>
          <a:xfrm>
            <a:off x="457200" y="2167128"/>
            <a:ext cx="3794760" cy="256032"/>
          </a:xfrm>
          <a:prstGeom prst="rect">
            <a:avLst/>
          </a:prstGeom>
          <a:noFill/>
          <a:ln/>
        </p:spPr>
        <p:txBody>
          <a:bodyPr wrap="square" lIns="0" tIns="0" rIns="0" bIns="0" rtlCol="0" anchor="t"/>
          <a:lstStyle/>
          <a:p>
            <a:pPr marL="0" indent="0" algn="l">
              <a:buNone/>
            </a:pPr>
            <a:r>
              <a:rPr lang="en-US" sz="1000" dirty="0">
                <a:solidFill>
                  <a:srgbClr val="E8EDF5"/>
                </a:solidFill>
                <a:latin typeface="Calibri" pitchFamily="34" charset="0"/>
                <a:ea typeface="Calibri" pitchFamily="34" charset="-122"/>
                <a:cs typeface="Calibri" pitchFamily="34" charset="-120"/>
              </a:rPr>
              <a:t>Modul de conectare la MariaDB. Gestionează conexiunea, cursor-ul și executarea query-urilor parametrizate (protecție SQL injection).</a:t>
            </a:r>
            <a:endParaRPr lang="en-US" sz="1000" dirty="0"/>
          </a:p>
        </p:txBody>
      </p:sp>
      <p:sp>
        <p:nvSpPr>
          <p:cNvPr id="11" name="Shape 9"/>
          <p:cNvSpPr/>
          <p:nvPr/>
        </p:nvSpPr>
        <p:spPr>
          <a:xfrm>
            <a:off x="320040" y="2496312"/>
            <a:ext cx="4069080" cy="530352"/>
          </a:xfrm>
          <a:prstGeom prst="rect">
            <a:avLst/>
          </a:prstGeom>
          <a:solidFill>
            <a:srgbClr val="112240"/>
          </a:solidFill>
          <a:ln w="12700">
            <a:solidFill>
              <a:srgbClr val="1A3560"/>
            </a:solidFill>
            <a:prstDash val="solid"/>
          </a:ln>
        </p:spPr>
        <p:txBody>
          <a:bodyPr/>
          <a:lstStyle/>
          <a:p>
            <a:endParaRPr lang="ro-RO"/>
          </a:p>
        </p:txBody>
      </p:sp>
      <p:sp>
        <p:nvSpPr>
          <p:cNvPr id="12" name="Text 10"/>
          <p:cNvSpPr/>
          <p:nvPr/>
        </p:nvSpPr>
        <p:spPr>
          <a:xfrm>
            <a:off x="457200" y="2514600"/>
            <a:ext cx="1371600" cy="219456"/>
          </a:xfrm>
          <a:prstGeom prst="rect">
            <a:avLst/>
          </a:prstGeom>
          <a:noFill/>
          <a:ln/>
        </p:spPr>
        <p:txBody>
          <a:bodyPr wrap="square" lIns="0" tIns="0" rIns="0" bIns="0" rtlCol="0" anchor="ctr"/>
          <a:lstStyle/>
          <a:p>
            <a:pPr marL="0" indent="0">
              <a:buNone/>
            </a:pPr>
            <a:r>
              <a:rPr lang="en-US" sz="1100" b="1" dirty="0">
                <a:solidFill>
                  <a:srgbClr val="00B4D8"/>
                </a:solidFill>
                <a:latin typeface="Consolas" pitchFamily="34" charset="0"/>
                <a:ea typeface="Consolas" pitchFamily="34" charset="-122"/>
                <a:cs typeface="Consolas" pitchFamily="34" charset="-120"/>
              </a:rPr>
              <a:t>user.py</a:t>
            </a:r>
            <a:endParaRPr lang="en-US" sz="1100" dirty="0"/>
          </a:p>
        </p:txBody>
      </p:sp>
      <p:sp>
        <p:nvSpPr>
          <p:cNvPr id="13" name="Text 11"/>
          <p:cNvSpPr/>
          <p:nvPr/>
        </p:nvSpPr>
        <p:spPr>
          <a:xfrm>
            <a:off x="457200" y="2752344"/>
            <a:ext cx="3794760" cy="256032"/>
          </a:xfrm>
          <a:prstGeom prst="rect">
            <a:avLst/>
          </a:prstGeom>
          <a:noFill/>
          <a:ln/>
        </p:spPr>
        <p:txBody>
          <a:bodyPr wrap="square" lIns="0" tIns="0" rIns="0" bIns="0" rtlCol="0" anchor="t"/>
          <a:lstStyle/>
          <a:p>
            <a:pPr marL="0" indent="0" algn="l">
              <a:buNone/>
            </a:pPr>
            <a:r>
              <a:rPr lang="en-US" sz="1000" dirty="0">
                <a:solidFill>
                  <a:srgbClr val="E8EDF5"/>
                </a:solidFill>
                <a:latin typeface="Calibri" pitchFamily="34" charset="0"/>
                <a:ea typeface="Calibri" pitchFamily="34" charset="-122"/>
                <a:cs typeface="Calibri" pitchFamily="34" charset="-120"/>
              </a:rPr>
              <a:t>Înregistrare client nou (PF/PJ), autentificare, vizualizare profil și conturi, listare beneficiari.</a:t>
            </a:r>
            <a:endParaRPr lang="en-US" sz="1000" dirty="0"/>
          </a:p>
        </p:txBody>
      </p:sp>
      <p:sp>
        <p:nvSpPr>
          <p:cNvPr id="14" name="Shape 12"/>
          <p:cNvSpPr/>
          <p:nvPr/>
        </p:nvSpPr>
        <p:spPr>
          <a:xfrm>
            <a:off x="320040" y="3081528"/>
            <a:ext cx="4069080" cy="530352"/>
          </a:xfrm>
          <a:prstGeom prst="rect">
            <a:avLst/>
          </a:prstGeom>
          <a:solidFill>
            <a:srgbClr val="112240"/>
          </a:solidFill>
          <a:ln w="12700">
            <a:solidFill>
              <a:srgbClr val="1A3560"/>
            </a:solidFill>
            <a:prstDash val="solid"/>
          </a:ln>
        </p:spPr>
        <p:txBody>
          <a:bodyPr/>
          <a:lstStyle/>
          <a:p>
            <a:endParaRPr lang="ro-RO"/>
          </a:p>
        </p:txBody>
      </p:sp>
      <p:sp>
        <p:nvSpPr>
          <p:cNvPr id="15" name="Text 13"/>
          <p:cNvSpPr/>
          <p:nvPr/>
        </p:nvSpPr>
        <p:spPr>
          <a:xfrm>
            <a:off x="457200" y="3099816"/>
            <a:ext cx="1371600" cy="219456"/>
          </a:xfrm>
          <a:prstGeom prst="rect">
            <a:avLst/>
          </a:prstGeom>
          <a:noFill/>
          <a:ln/>
        </p:spPr>
        <p:txBody>
          <a:bodyPr wrap="square" lIns="0" tIns="0" rIns="0" bIns="0" rtlCol="0" anchor="ctr"/>
          <a:lstStyle/>
          <a:p>
            <a:pPr marL="0" indent="0">
              <a:buNone/>
            </a:pPr>
            <a:r>
              <a:rPr lang="en-US" sz="1100" b="1" dirty="0">
                <a:solidFill>
                  <a:srgbClr val="00B4D8"/>
                </a:solidFill>
                <a:latin typeface="Consolas" pitchFamily="34" charset="0"/>
                <a:ea typeface="Consolas" pitchFamily="34" charset="-122"/>
                <a:cs typeface="Consolas" pitchFamily="34" charset="-120"/>
              </a:rPr>
              <a:t>transactions.py</a:t>
            </a:r>
            <a:endParaRPr lang="en-US" sz="1100" dirty="0"/>
          </a:p>
        </p:txBody>
      </p:sp>
      <p:sp>
        <p:nvSpPr>
          <p:cNvPr id="16" name="Text 14"/>
          <p:cNvSpPr/>
          <p:nvPr/>
        </p:nvSpPr>
        <p:spPr>
          <a:xfrm>
            <a:off x="457200" y="3337560"/>
            <a:ext cx="3794760" cy="256032"/>
          </a:xfrm>
          <a:prstGeom prst="rect">
            <a:avLst/>
          </a:prstGeom>
          <a:noFill/>
          <a:ln/>
        </p:spPr>
        <p:txBody>
          <a:bodyPr wrap="square" lIns="0" tIns="0" rIns="0" bIns="0" rtlCol="0" anchor="t"/>
          <a:lstStyle/>
          <a:p>
            <a:pPr marL="0" indent="0" algn="l">
              <a:buNone/>
            </a:pPr>
            <a:r>
              <a:rPr lang="en-US" sz="1000" dirty="0">
                <a:solidFill>
                  <a:srgbClr val="E8EDF5"/>
                </a:solidFill>
                <a:latin typeface="Calibri" pitchFamily="34" charset="0"/>
                <a:ea typeface="Calibri" pitchFamily="34" charset="-122"/>
                <a:cs typeface="Calibri" pitchFamily="34" charset="-120"/>
              </a:rPr>
              <a:t>Apelează procedura EfectueazaTransfer, afișează istoricul tranzacțiilor, generează extrase de cont prin GenereazaExtras.</a:t>
            </a:r>
            <a:endParaRPr lang="en-US" sz="1000" dirty="0"/>
          </a:p>
        </p:txBody>
      </p:sp>
      <p:sp>
        <p:nvSpPr>
          <p:cNvPr id="17" name="Shape 15"/>
          <p:cNvSpPr/>
          <p:nvPr/>
        </p:nvSpPr>
        <p:spPr>
          <a:xfrm>
            <a:off x="320040" y="3666744"/>
            <a:ext cx="4069080" cy="530352"/>
          </a:xfrm>
          <a:prstGeom prst="rect">
            <a:avLst/>
          </a:prstGeom>
          <a:solidFill>
            <a:srgbClr val="112240"/>
          </a:solidFill>
          <a:ln w="12700">
            <a:solidFill>
              <a:srgbClr val="1A3560"/>
            </a:solidFill>
            <a:prstDash val="solid"/>
          </a:ln>
        </p:spPr>
        <p:txBody>
          <a:bodyPr/>
          <a:lstStyle/>
          <a:p>
            <a:endParaRPr lang="ro-RO"/>
          </a:p>
        </p:txBody>
      </p:sp>
      <p:sp>
        <p:nvSpPr>
          <p:cNvPr id="18" name="Text 16"/>
          <p:cNvSpPr/>
          <p:nvPr/>
        </p:nvSpPr>
        <p:spPr>
          <a:xfrm>
            <a:off x="457200" y="3685032"/>
            <a:ext cx="1371600" cy="219456"/>
          </a:xfrm>
          <a:prstGeom prst="rect">
            <a:avLst/>
          </a:prstGeom>
          <a:noFill/>
          <a:ln/>
        </p:spPr>
        <p:txBody>
          <a:bodyPr wrap="square" lIns="0" tIns="0" rIns="0" bIns="0" rtlCol="0" anchor="ctr"/>
          <a:lstStyle/>
          <a:p>
            <a:pPr marL="0" indent="0">
              <a:buNone/>
            </a:pPr>
            <a:r>
              <a:rPr lang="en-US" sz="1100" b="1" dirty="0">
                <a:solidFill>
                  <a:srgbClr val="00B4D8"/>
                </a:solidFill>
                <a:latin typeface="Consolas" pitchFamily="34" charset="0"/>
                <a:ea typeface="Consolas" pitchFamily="34" charset="-122"/>
                <a:cs typeface="Consolas" pitchFamily="34" charset="-120"/>
              </a:rPr>
              <a:t>admin.py</a:t>
            </a:r>
            <a:endParaRPr lang="en-US" sz="1100" dirty="0"/>
          </a:p>
        </p:txBody>
      </p:sp>
      <p:sp>
        <p:nvSpPr>
          <p:cNvPr id="19" name="Text 17"/>
          <p:cNvSpPr/>
          <p:nvPr/>
        </p:nvSpPr>
        <p:spPr>
          <a:xfrm>
            <a:off x="457200" y="3922776"/>
            <a:ext cx="3794760" cy="256032"/>
          </a:xfrm>
          <a:prstGeom prst="rect">
            <a:avLst/>
          </a:prstGeom>
          <a:noFill/>
          <a:ln/>
        </p:spPr>
        <p:txBody>
          <a:bodyPr wrap="square" lIns="0" tIns="0" rIns="0" bIns="0" rtlCol="0" anchor="t"/>
          <a:lstStyle/>
          <a:p>
            <a:pPr marL="0" indent="0" algn="l">
              <a:buNone/>
            </a:pPr>
            <a:r>
              <a:rPr lang="en-US" sz="1000" dirty="0">
                <a:solidFill>
                  <a:srgbClr val="E8EDF5"/>
                </a:solidFill>
                <a:latin typeface="Calibri" pitchFamily="34" charset="0"/>
                <a:ea typeface="Calibri" pitchFamily="34" charset="-122"/>
                <a:cs typeface="Calibri" pitchFamily="34" charset="-120"/>
              </a:rPr>
              <a:t>Panou admin: statistici globale, vizualizare alerte fraudă (v_alerte_frauda), gestionare conturi blocate.</a:t>
            </a:r>
            <a:endParaRPr lang="en-US" sz="1000" dirty="0"/>
          </a:p>
        </p:txBody>
      </p:sp>
      <p:sp>
        <p:nvSpPr>
          <p:cNvPr id="20" name="Shape 18"/>
          <p:cNvSpPr/>
          <p:nvPr/>
        </p:nvSpPr>
        <p:spPr>
          <a:xfrm>
            <a:off x="320040" y="4251960"/>
            <a:ext cx="4069080" cy="530352"/>
          </a:xfrm>
          <a:prstGeom prst="rect">
            <a:avLst/>
          </a:prstGeom>
          <a:solidFill>
            <a:srgbClr val="112240"/>
          </a:solidFill>
          <a:ln w="12700">
            <a:solidFill>
              <a:srgbClr val="1A3560"/>
            </a:solidFill>
            <a:prstDash val="solid"/>
          </a:ln>
        </p:spPr>
        <p:txBody>
          <a:bodyPr/>
          <a:lstStyle/>
          <a:p>
            <a:endParaRPr lang="ro-RO"/>
          </a:p>
        </p:txBody>
      </p:sp>
      <p:sp>
        <p:nvSpPr>
          <p:cNvPr id="21" name="Text 19"/>
          <p:cNvSpPr/>
          <p:nvPr/>
        </p:nvSpPr>
        <p:spPr>
          <a:xfrm>
            <a:off x="457200" y="4270248"/>
            <a:ext cx="1371600" cy="219456"/>
          </a:xfrm>
          <a:prstGeom prst="rect">
            <a:avLst/>
          </a:prstGeom>
          <a:noFill/>
          <a:ln/>
        </p:spPr>
        <p:txBody>
          <a:bodyPr wrap="square" lIns="0" tIns="0" rIns="0" bIns="0" rtlCol="0" anchor="ctr"/>
          <a:lstStyle/>
          <a:p>
            <a:pPr marL="0" indent="0">
              <a:buNone/>
            </a:pPr>
            <a:r>
              <a:rPr lang="en-US" sz="1100" b="1" dirty="0">
                <a:solidFill>
                  <a:srgbClr val="00B4D8"/>
                </a:solidFill>
                <a:latin typeface="Consolas" pitchFamily="34" charset="0"/>
                <a:ea typeface="Consolas" pitchFamily="34" charset="-122"/>
                <a:cs typeface="Consolas" pitchFamily="34" charset="-120"/>
              </a:rPr>
              <a:t>theme.py</a:t>
            </a:r>
            <a:endParaRPr lang="en-US" sz="1100" dirty="0"/>
          </a:p>
        </p:txBody>
      </p:sp>
      <p:sp>
        <p:nvSpPr>
          <p:cNvPr id="22" name="Text 20"/>
          <p:cNvSpPr/>
          <p:nvPr/>
        </p:nvSpPr>
        <p:spPr>
          <a:xfrm>
            <a:off x="457200" y="4507992"/>
            <a:ext cx="3794760" cy="256032"/>
          </a:xfrm>
          <a:prstGeom prst="rect">
            <a:avLst/>
          </a:prstGeom>
          <a:noFill/>
          <a:ln/>
        </p:spPr>
        <p:txBody>
          <a:bodyPr wrap="square" lIns="0" tIns="0" rIns="0" bIns="0" rtlCol="0" anchor="t"/>
          <a:lstStyle/>
          <a:p>
            <a:pPr marL="0" indent="0" algn="l">
              <a:buNone/>
            </a:pPr>
            <a:r>
              <a:rPr lang="en-US" sz="1000" dirty="0">
                <a:solidFill>
                  <a:srgbClr val="E8EDF5"/>
                </a:solidFill>
                <a:latin typeface="Calibri" pitchFamily="34" charset="0"/>
                <a:ea typeface="Calibri" pitchFamily="34" charset="-122"/>
                <a:cs typeface="Calibri" pitchFamily="34" charset="-120"/>
              </a:rPr>
              <a:t>Utilitare de afișare în terminal (culori ANSI, tabele formatate, mesaje de eroare stilizate).</a:t>
            </a:r>
            <a:endParaRPr lang="en-US" sz="1000" dirty="0"/>
          </a:p>
        </p:txBody>
      </p:sp>
      <p:sp>
        <p:nvSpPr>
          <p:cNvPr id="23" name="Text 21"/>
          <p:cNvSpPr/>
          <p:nvPr/>
        </p:nvSpPr>
        <p:spPr>
          <a:xfrm>
            <a:off x="4754880" y="914400"/>
            <a:ext cx="4114800" cy="347472"/>
          </a:xfrm>
          <a:prstGeom prst="rect">
            <a:avLst/>
          </a:prstGeom>
          <a:noFill/>
          <a:ln/>
        </p:spPr>
        <p:txBody>
          <a:bodyPr wrap="square" lIns="0" tIns="0" rIns="0" bIns="0" rtlCol="0" anchor="ctr"/>
          <a:lstStyle/>
          <a:p>
            <a:pPr marL="0" indent="0">
              <a:buNone/>
            </a:pPr>
            <a:r>
              <a:rPr lang="en-US" sz="1500" b="1" dirty="0">
                <a:latin typeface="Calibri" pitchFamily="34" charset="0"/>
                <a:ea typeface="Calibri" pitchFamily="34" charset="-122"/>
                <a:cs typeface="Calibri" pitchFamily="34" charset="-120"/>
              </a:rPr>
              <a:t>Concluzii</a:t>
            </a:r>
            <a:endParaRPr lang="en-US" sz="1500" dirty="0"/>
          </a:p>
        </p:txBody>
      </p:sp>
      <p:sp>
        <p:nvSpPr>
          <p:cNvPr id="24" name="Shape 22"/>
          <p:cNvSpPr/>
          <p:nvPr/>
        </p:nvSpPr>
        <p:spPr>
          <a:xfrm>
            <a:off x="4754880" y="1325880"/>
            <a:ext cx="4160520" cy="457200"/>
          </a:xfrm>
          <a:prstGeom prst="rect">
            <a:avLst/>
          </a:prstGeom>
          <a:solidFill>
            <a:srgbClr val="112240"/>
          </a:solidFill>
          <a:ln w="12700">
            <a:solidFill>
              <a:srgbClr val="112240"/>
            </a:solidFill>
            <a:prstDash val="solid"/>
          </a:ln>
        </p:spPr>
        <p:txBody>
          <a:bodyPr/>
          <a:lstStyle/>
          <a:p>
            <a:endParaRPr lang="ro-RO"/>
          </a:p>
        </p:txBody>
      </p:sp>
      <p:sp>
        <p:nvSpPr>
          <p:cNvPr id="25" name="Text 23"/>
          <p:cNvSpPr/>
          <p:nvPr/>
        </p:nvSpPr>
        <p:spPr>
          <a:xfrm>
            <a:off x="4828032" y="1325880"/>
            <a:ext cx="320040" cy="457200"/>
          </a:xfrm>
          <a:prstGeom prst="rect">
            <a:avLst/>
          </a:prstGeom>
          <a:noFill/>
          <a:ln/>
        </p:spPr>
        <p:txBody>
          <a:bodyPr wrap="square" lIns="0" tIns="0" rIns="0" bIns="0" rtlCol="0" anchor="ctr"/>
          <a:lstStyle/>
          <a:p>
            <a:pPr marL="0" indent="0" algn="ctr">
              <a:buNone/>
            </a:pPr>
            <a:r>
              <a:rPr lang="en-US" sz="1400" dirty="0">
                <a:solidFill>
                  <a:srgbClr val="2ECC71"/>
                </a:solidFill>
                <a:latin typeface="Calibri" pitchFamily="34" charset="0"/>
                <a:ea typeface="Calibri" pitchFamily="34" charset="-122"/>
                <a:cs typeface="Calibri" pitchFamily="34" charset="-120"/>
              </a:rPr>
              <a:t>✔</a:t>
            </a:r>
            <a:endParaRPr lang="en-US" sz="1400" dirty="0"/>
          </a:p>
        </p:txBody>
      </p:sp>
      <p:sp>
        <p:nvSpPr>
          <p:cNvPr id="26" name="Text 24"/>
          <p:cNvSpPr/>
          <p:nvPr/>
        </p:nvSpPr>
        <p:spPr>
          <a:xfrm>
            <a:off x="5166360" y="1353312"/>
            <a:ext cx="3657600" cy="411480"/>
          </a:xfrm>
          <a:prstGeom prst="rect">
            <a:avLst/>
          </a:prstGeom>
          <a:noFill/>
          <a:ln/>
        </p:spPr>
        <p:txBody>
          <a:bodyPr wrap="square" lIns="0" tIns="0" rIns="0" bIns="0" rtlCol="0" anchor="t"/>
          <a:lstStyle/>
          <a:p>
            <a:pPr marL="0" indent="0" algn="l">
              <a:buNone/>
            </a:pPr>
            <a:r>
              <a:rPr lang="en-US" sz="1000" dirty="0">
                <a:solidFill>
                  <a:srgbClr val="E8EDF5"/>
                </a:solidFill>
                <a:latin typeface="Calibri" pitchFamily="34" charset="0"/>
                <a:ea typeface="Calibri" pitchFamily="34" charset="-122"/>
                <a:cs typeface="Calibri" pitchFamily="34" charset="-120"/>
              </a:rPr>
              <a:t>Schema normalizată (3NF) cu tabele clare și relații bine definite prin FK, eliminând redundanța datelor.</a:t>
            </a:r>
            <a:endParaRPr lang="en-US" sz="1000" dirty="0"/>
          </a:p>
        </p:txBody>
      </p:sp>
      <p:sp>
        <p:nvSpPr>
          <p:cNvPr id="27" name="Shape 25"/>
          <p:cNvSpPr/>
          <p:nvPr/>
        </p:nvSpPr>
        <p:spPr>
          <a:xfrm>
            <a:off x="4754880" y="1847088"/>
            <a:ext cx="4160520" cy="457200"/>
          </a:xfrm>
          <a:prstGeom prst="rect">
            <a:avLst/>
          </a:prstGeom>
          <a:solidFill>
            <a:srgbClr val="112240"/>
          </a:solidFill>
          <a:ln w="12700">
            <a:solidFill>
              <a:srgbClr val="112240"/>
            </a:solidFill>
            <a:prstDash val="solid"/>
          </a:ln>
        </p:spPr>
        <p:txBody>
          <a:bodyPr/>
          <a:lstStyle/>
          <a:p>
            <a:endParaRPr lang="ro-RO"/>
          </a:p>
        </p:txBody>
      </p:sp>
      <p:sp>
        <p:nvSpPr>
          <p:cNvPr id="28" name="Text 26"/>
          <p:cNvSpPr/>
          <p:nvPr/>
        </p:nvSpPr>
        <p:spPr>
          <a:xfrm>
            <a:off x="4828032" y="1847088"/>
            <a:ext cx="320040" cy="457200"/>
          </a:xfrm>
          <a:prstGeom prst="rect">
            <a:avLst/>
          </a:prstGeom>
          <a:noFill/>
          <a:ln/>
        </p:spPr>
        <p:txBody>
          <a:bodyPr wrap="square" lIns="0" tIns="0" rIns="0" bIns="0" rtlCol="0" anchor="ctr"/>
          <a:lstStyle/>
          <a:p>
            <a:pPr marL="0" indent="0" algn="ctr">
              <a:buNone/>
            </a:pPr>
            <a:r>
              <a:rPr lang="en-US" sz="1400" dirty="0">
                <a:solidFill>
                  <a:srgbClr val="2ECC71"/>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5166360" y="1874520"/>
            <a:ext cx="3657600" cy="411480"/>
          </a:xfrm>
          <a:prstGeom prst="rect">
            <a:avLst/>
          </a:prstGeom>
          <a:noFill/>
          <a:ln/>
        </p:spPr>
        <p:txBody>
          <a:bodyPr wrap="square" lIns="0" tIns="0" rIns="0" bIns="0" rtlCol="0" anchor="t"/>
          <a:lstStyle/>
          <a:p>
            <a:pPr marL="0" indent="0" algn="l">
              <a:buNone/>
            </a:pPr>
            <a:r>
              <a:rPr lang="en-US" sz="1000" dirty="0">
                <a:solidFill>
                  <a:srgbClr val="E8EDF5"/>
                </a:solidFill>
                <a:latin typeface="Calibri" pitchFamily="34" charset="0"/>
                <a:ea typeface="Calibri" pitchFamily="34" charset="-122"/>
                <a:cs typeface="Calibri" pitchFamily="34" charset="-120"/>
              </a:rPr>
              <a:t>Tranzacții ACID complete: transferurile bancare sunt atomice, consistente, izolate și durabile prin START TRANSACTION / COMMIT / ROLLBACK.</a:t>
            </a:r>
            <a:endParaRPr lang="en-US" sz="1000" dirty="0"/>
          </a:p>
        </p:txBody>
      </p:sp>
      <p:sp>
        <p:nvSpPr>
          <p:cNvPr id="30" name="Shape 28"/>
          <p:cNvSpPr/>
          <p:nvPr/>
        </p:nvSpPr>
        <p:spPr>
          <a:xfrm>
            <a:off x="4754880" y="2368296"/>
            <a:ext cx="4160520" cy="457200"/>
          </a:xfrm>
          <a:prstGeom prst="rect">
            <a:avLst/>
          </a:prstGeom>
          <a:solidFill>
            <a:srgbClr val="112240"/>
          </a:solidFill>
          <a:ln w="12700">
            <a:solidFill>
              <a:srgbClr val="112240"/>
            </a:solidFill>
            <a:prstDash val="solid"/>
          </a:ln>
        </p:spPr>
        <p:txBody>
          <a:bodyPr/>
          <a:lstStyle/>
          <a:p>
            <a:endParaRPr lang="ro-RO"/>
          </a:p>
        </p:txBody>
      </p:sp>
      <p:sp>
        <p:nvSpPr>
          <p:cNvPr id="31" name="Text 29"/>
          <p:cNvSpPr/>
          <p:nvPr/>
        </p:nvSpPr>
        <p:spPr>
          <a:xfrm>
            <a:off x="4828032" y="2368296"/>
            <a:ext cx="320040" cy="457200"/>
          </a:xfrm>
          <a:prstGeom prst="rect">
            <a:avLst/>
          </a:prstGeom>
          <a:noFill/>
          <a:ln/>
        </p:spPr>
        <p:txBody>
          <a:bodyPr wrap="square" lIns="0" tIns="0" rIns="0" bIns="0" rtlCol="0" anchor="ctr"/>
          <a:lstStyle/>
          <a:p>
            <a:pPr marL="0" indent="0" algn="ctr">
              <a:buNone/>
            </a:pPr>
            <a:r>
              <a:rPr lang="en-US" sz="1400" dirty="0">
                <a:solidFill>
                  <a:srgbClr val="2ECC71"/>
                </a:solidFill>
                <a:latin typeface="Calibri" pitchFamily="34" charset="0"/>
                <a:ea typeface="Calibri" pitchFamily="34" charset="-122"/>
                <a:cs typeface="Calibri" pitchFamily="34" charset="-120"/>
              </a:rPr>
              <a:t>✔</a:t>
            </a:r>
            <a:endParaRPr lang="en-US" sz="1400" dirty="0"/>
          </a:p>
        </p:txBody>
      </p:sp>
      <p:sp>
        <p:nvSpPr>
          <p:cNvPr id="32" name="Text 30"/>
          <p:cNvSpPr/>
          <p:nvPr/>
        </p:nvSpPr>
        <p:spPr>
          <a:xfrm>
            <a:off x="5166360" y="2395728"/>
            <a:ext cx="3657600" cy="411480"/>
          </a:xfrm>
          <a:prstGeom prst="rect">
            <a:avLst/>
          </a:prstGeom>
          <a:noFill/>
          <a:ln/>
        </p:spPr>
        <p:txBody>
          <a:bodyPr wrap="square" lIns="0" tIns="0" rIns="0" bIns="0" rtlCol="0" anchor="t"/>
          <a:lstStyle/>
          <a:p>
            <a:pPr marL="0" indent="0" algn="l">
              <a:buNone/>
            </a:pPr>
            <a:r>
              <a:rPr lang="en-US" sz="1000" dirty="0">
                <a:solidFill>
                  <a:srgbClr val="E8EDF5"/>
                </a:solidFill>
                <a:latin typeface="Calibri" pitchFamily="34" charset="0"/>
                <a:ea typeface="Calibri" pitchFamily="34" charset="-122"/>
                <a:cs typeface="Calibri" pitchFamily="34" charset="-120"/>
              </a:rPr>
              <a:t>4 triggere implementate acoperind: actualizare sold automată, validare fond minim, audit complet al soldurilor și notificări automate.</a:t>
            </a:r>
            <a:endParaRPr lang="en-US" sz="1000" dirty="0"/>
          </a:p>
        </p:txBody>
      </p:sp>
      <p:sp>
        <p:nvSpPr>
          <p:cNvPr id="33" name="Shape 31"/>
          <p:cNvSpPr/>
          <p:nvPr/>
        </p:nvSpPr>
        <p:spPr>
          <a:xfrm>
            <a:off x="4754880" y="2889504"/>
            <a:ext cx="4160520" cy="457200"/>
          </a:xfrm>
          <a:prstGeom prst="rect">
            <a:avLst/>
          </a:prstGeom>
          <a:solidFill>
            <a:srgbClr val="112240"/>
          </a:solidFill>
          <a:ln w="12700">
            <a:solidFill>
              <a:srgbClr val="112240"/>
            </a:solidFill>
            <a:prstDash val="solid"/>
          </a:ln>
        </p:spPr>
        <p:txBody>
          <a:bodyPr/>
          <a:lstStyle/>
          <a:p>
            <a:endParaRPr lang="ro-RO"/>
          </a:p>
        </p:txBody>
      </p:sp>
      <p:sp>
        <p:nvSpPr>
          <p:cNvPr id="34" name="Text 32"/>
          <p:cNvSpPr/>
          <p:nvPr/>
        </p:nvSpPr>
        <p:spPr>
          <a:xfrm>
            <a:off x="4828032" y="2889504"/>
            <a:ext cx="320040" cy="457200"/>
          </a:xfrm>
          <a:prstGeom prst="rect">
            <a:avLst/>
          </a:prstGeom>
          <a:noFill/>
          <a:ln/>
        </p:spPr>
        <p:txBody>
          <a:bodyPr wrap="square" lIns="0" tIns="0" rIns="0" bIns="0" rtlCol="0" anchor="ctr"/>
          <a:lstStyle/>
          <a:p>
            <a:pPr marL="0" indent="0" algn="ctr">
              <a:buNone/>
            </a:pPr>
            <a:r>
              <a:rPr lang="en-US" sz="1400" dirty="0">
                <a:solidFill>
                  <a:srgbClr val="2ECC71"/>
                </a:solidFill>
                <a:latin typeface="Calibri" pitchFamily="34" charset="0"/>
                <a:ea typeface="Calibri" pitchFamily="34" charset="-122"/>
                <a:cs typeface="Calibri" pitchFamily="34" charset="-120"/>
              </a:rPr>
              <a:t>✔</a:t>
            </a:r>
            <a:endParaRPr lang="en-US" sz="1400" dirty="0"/>
          </a:p>
        </p:txBody>
      </p:sp>
      <p:sp>
        <p:nvSpPr>
          <p:cNvPr id="35" name="Text 33"/>
          <p:cNvSpPr/>
          <p:nvPr/>
        </p:nvSpPr>
        <p:spPr>
          <a:xfrm>
            <a:off x="5166360" y="2916936"/>
            <a:ext cx="3657600" cy="411480"/>
          </a:xfrm>
          <a:prstGeom prst="rect">
            <a:avLst/>
          </a:prstGeom>
          <a:noFill/>
          <a:ln/>
        </p:spPr>
        <p:txBody>
          <a:bodyPr wrap="square" lIns="0" tIns="0" rIns="0" bIns="0" rtlCol="0" anchor="t"/>
          <a:lstStyle/>
          <a:p>
            <a:pPr marL="0" indent="0" algn="l">
              <a:buNone/>
            </a:pPr>
            <a:r>
              <a:rPr lang="en-US" sz="1000" dirty="0">
                <a:solidFill>
                  <a:srgbClr val="E8EDF5"/>
                </a:solidFill>
                <a:latin typeface="Calibri" pitchFamily="34" charset="0"/>
                <a:ea typeface="Calibri" pitchFamily="34" charset="-122"/>
                <a:cs typeface="Calibri" pitchFamily="34" charset="-120"/>
              </a:rPr>
              <a:t>2 proceduri stocate: EfectueazaTransfer (operație principală) și GenereazaExtras (raport financiar).</a:t>
            </a:r>
            <a:endParaRPr lang="en-US" sz="1000" dirty="0"/>
          </a:p>
        </p:txBody>
      </p:sp>
      <p:sp>
        <p:nvSpPr>
          <p:cNvPr id="36" name="Shape 34"/>
          <p:cNvSpPr/>
          <p:nvPr/>
        </p:nvSpPr>
        <p:spPr>
          <a:xfrm>
            <a:off x="4754880" y="3410712"/>
            <a:ext cx="4160520" cy="457200"/>
          </a:xfrm>
          <a:prstGeom prst="rect">
            <a:avLst/>
          </a:prstGeom>
          <a:solidFill>
            <a:srgbClr val="112240"/>
          </a:solidFill>
          <a:ln w="12700">
            <a:solidFill>
              <a:srgbClr val="112240"/>
            </a:solidFill>
            <a:prstDash val="solid"/>
          </a:ln>
        </p:spPr>
        <p:txBody>
          <a:bodyPr/>
          <a:lstStyle/>
          <a:p>
            <a:endParaRPr lang="ro-RO"/>
          </a:p>
        </p:txBody>
      </p:sp>
      <p:sp>
        <p:nvSpPr>
          <p:cNvPr id="37" name="Text 35"/>
          <p:cNvSpPr/>
          <p:nvPr/>
        </p:nvSpPr>
        <p:spPr>
          <a:xfrm>
            <a:off x="4828032" y="3410712"/>
            <a:ext cx="320040" cy="457200"/>
          </a:xfrm>
          <a:prstGeom prst="rect">
            <a:avLst/>
          </a:prstGeom>
          <a:noFill/>
          <a:ln/>
        </p:spPr>
        <p:txBody>
          <a:bodyPr wrap="square" lIns="0" tIns="0" rIns="0" bIns="0" rtlCol="0" anchor="ctr"/>
          <a:lstStyle/>
          <a:p>
            <a:pPr marL="0" indent="0" algn="ctr">
              <a:buNone/>
            </a:pPr>
            <a:r>
              <a:rPr lang="en-US" sz="1400" dirty="0">
                <a:solidFill>
                  <a:srgbClr val="2ECC71"/>
                </a:solidFill>
                <a:latin typeface="Calibri" pitchFamily="34" charset="0"/>
                <a:ea typeface="Calibri" pitchFamily="34" charset="-122"/>
                <a:cs typeface="Calibri" pitchFamily="34" charset="-120"/>
              </a:rPr>
              <a:t>✔</a:t>
            </a:r>
            <a:endParaRPr lang="en-US" sz="1400" dirty="0"/>
          </a:p>
        </p:txBody>
      </p:sp>
      <p:sp>
        <p:nvSpPr>
          <p:cNvPr id="38" name="Text 36"/>
          <p:cNvSpPr/>
          <p:nvPr/>
        </p:nvSpPr>
        <p:spPr>
          <a:xfrm>
            <a:off x="5166360" y="3438144"/>
            <a:ext cx="3657600" cy="411480"/>
          </a:xfrm>
          <a:prstGeom prst="rect">
            <a:avLst/>
          </a:prstGeom>
          <a:noFill/>
          <a:ln/>
        </p:spPr>
        <p:txBody>
          <a:bodyPr wrap="square" lIns="0" tIns="0" rIns="0" bIns="0" rtlCol="0" anchor="t"/>
          <a:lstStyle/>
          <a:p>
            <a:pPr marL="0" indent="0" algn="l">
              <a:buNone/>
            </a:pPr>
            <a:r>
              <a:rPr lang="en-US" sz="1000" dirty="0">
                <a:solidFill>
                  <a:srgbClr val="E8EDF5"/>
                </a:solidFill>
                <a:latin typeface="Calibri" pitchFamily="34" charset="0"/>
                <a:ea typeface="Calibri" pitchFamily="34" charset="-122"/>
                <a:cs typeface="Calibri" pitchFamily="34" charset="-120"/>
              </a:rPr>
              <a:t>5 view-uri pentru abstractizarea interogărilor complexe: dashboard conturi, detalii clienți, istoric tranzacții, detectare fraudă.</a:t>
            </a:r>
            <a:endParaRPr lang="en-US" sz="1000" dirty="0"/>
          </a:p>
        </p:txBody>
      </p:sp>
      <p:sp>
        <p:nvSpPr>
          <p:cNvPr id="39" name="Shape 37"/>
          <p:cNvSpPr/>
          <p:nvPr/>
        </p:nvSpPr>
        <p:spPr>
          <a:xfrm>
            <a:off x="4754880" y="3931920"/>
            <a:ext cx="4160520" cy="457200"/>
          </a:xfrm>
          <a:prstGeom prst="rect">
            <a:avLst/>
          </a:prstGeom>
          <a:solidFill>
            <a:srgbClr val="112240"/>
          </a:solidFill>
          <a:ln w="12700">
            <a:solidFill>
              <a:srgbClr val="112240"/>
            </a:solidFill>
            <a:prstDash val="solid"/>
          </a:ln>
        </p:spPr>
        <p:txBody>
          <a:bodyPr/>
          <a:lstStyle/>
          <a:p>
            <a:endParaRPr lang="ro-RO"/>
          </a:p>
        </p:txBody>
      </p:sp>
      <p:sp>
        <p:nvSpPr>
          <p:cNvPr id="40" name="Text 38"/>
          <p:cNvSpPr/>
          <p:nvPr/>
        </p:nvSpPr>
        <p:spPr>
          <a:xfrm>
            <a:off x="4828032" y="3931920"/>
            <a:ext cx="320040" cy="457200"/>
          </a:xfrm>
          <a:prstGeom prst="rect">
            <a:avLst/>
          </a:prstGeom>
          <a:noFill/>
          <a:ln/>
        </p:spPr>
        <p:txBody>
          <a:bodyPr wrap="square" lIns="0" tIns="0" rIns="0" bIns="0" rtlCol="0" anchor="ctr"/>
          <a:lstStyle/>
          <a:p>
            <a:pPr marL="0" indent="0" algn="ctr">
              <a:buNone/>
            </a:pPr>
            <a:r>
              <a:rPr lang="en-US" sz="1400" dirty="0">
                <a:solidFill>
                  <a:srgbClr val="2ECC71"/>
                </a:solidFill>
                <a:latin typeface="Calibri" pitchFamily="34" charset="0"/>
                <a:ea typeface="Calibri" pitchFamily="34" charset="-122"/>
                <a:cs typeface="Calibri" pitchFamily="34" charset="-120"/>
              </a:rPr>
              <a:t>✔</a:t>
            </a:r>
            <a:endParaRPr lang="en-US" sz="1400" dirty="0"/>
          </a:p>
        </p:txBody>
      </p:sp>
      <p:sp>
        <p:nvSpPr>
          <p:cNvPr id="41" name="Text 39"/>
          <p:cNvSpPr/>
          <p:nvPr/>
        </p:nvSpPr>
        <p:spPr>
          <a:xfrm>
            <a:off x="5166360" y="3959352"/>
            <a:ext cx="3657600" cy="411480"/>
          </a:xfrm>
          <a:prstGeom prst="rect">
            <a:avLst/>
          </a:prstGeom>
          <a:noFill/>
          <a:ln/>
        </p:spPr>
        <p:txBody>
          <a:bodyPr wrap="square" lIns="0" tIns="0" rIns="0" bIns="0" rtlCol="0" anchor="t"/>
          <a:lstStyle/>
          <a:p>
            <a:pPr marL="0" indent="0" algn="l">
              <a:buNone/>
            </a:pPr>
            <a:r>
              <a:rPr lang="en-US" sz="1000" dirty="0">
                <a:solidFill>
                  <a:srgbClr val="E8EDF5"/>
                </a:solidFill>
                <a:latin typeface="Calibri" pitchFamily="34" charset="0"/>
                <a:ea typeface="Calibri" pitchFamily="34" charset="-122"/>
                <a:cs typeface="Calibri" pitchFamily="34" charset="-120"/>
              </a:rPr>
              <a:t>Indecși strategici pe câmpurile folosite frecvent în JOIN și WHERE (iban, data, id_cont) pentru performanță optimă.</a:t>
            </a:r>
            <a:endParaRPr lang="en-US" sz="1000" dirty="0"/>
          </a:p>
        </p:txBody>
      </p:sp>
      <p:sp>
        <p:nvSpPr>
          <p:cNvPr id="42" name="Shape 40"/>
          <p:cNvSpPr/>
          <p:nvPr/>
        </p:nvSpPr>
        <p:spPr>
          <a:xfrm>
            <a:off x="4754880" y="4453128"/>
            <a:ext cx="4160520" cy="457200"/>
          </a:xfrm>
          <a:prstGeom prst="rect">
            <a:avLst/>
          </a:prstGeom>
          <a:solidFill>
            <a:srgbClr val="112240"/>
          </a:solidFill>
          <a:ln w="12700">
            <a:solidFill>
              <a:srgbClr val="112240"/>
            </a:solidFill>
            <a:prstDash val="solid"/>
          </a:ln>
        </p:spPr>
        <p:txBody>
          <a:bodyPr/>
          <a:lstStyle/>
          <a:p>
            <a:endParaRPr lang="ro-RO"/>
          </a:p>
        </p:txBody>
      </p:sp>
      <p:sp>
        <p:nvSpPr>
          <p:cNvPr id="43" name="Text 41"/>
          <p:cNvSpPr/>
          <p:nvPr/>
        </p:nvSpPr>
        <p:spPr>
          <a:xfrm>
            <a:off x="4828032" y="4453128"/>
            <a:ext cx="320040" cy="457200"/>
          </a:xfrm>
          <a:prstGeom prst="rect">
            <a:avLst/>
          </a:prstGeom>
          <a:noFill/>
          <a:ln/>
        </p:spPr>
        <p:txBody>
          <a:bodyPr wrap="square" lIns="0" tIns="0" rIns="0" bIns="0" rtlCol="0" anchor="ctr"/>
          <a:lstStyle/>
          <a:p>
            <a:pPr marL="0" indent="0" algn="ctr">
              <a:buNone/>
            </a:pPr>
            <a:r>
              <a:rPr lang="en-US" sz="1400" dirty="0">
                <a:solidFill>
                  <a:srgbClr val="2ECC71"/>
                </a:solidFill>
                <a:latin typeface="Calibri" pitchFamily="34" charset="0"/>
                <a:ea typeface="Calibri" pitchFamily="34" charset="-122"/>
                <a:cs typeface="Calibri" pitchFamily="34" charset="-120"/>
              </a:rPr>
              <a:t>✔</a:t>
            </a:r>
            <a:endParaRPr lang="en-US" sz="1400" dirty="0"/>
          </a:p>
        </p:txBody>
      </p:sp>
      <p:sp>
        <p:nvSpPr>
          <p:cNvPr id="44" name="Text 42"/>
          <p:cNvSpPr/>
          <p:nvPr/>
        </p:nvSpPr>
        <p:spPr>
          <a:xfrm>
            <a:off x="5166360" y="4480560"/>
            <a:ext cx="3657600" cy="411480"/>
          </a:xfrm>
          <a:prstGeom prst="rect">
            <a:avLst/>
          </a:prstGeom>
          <a:noFill/>
          <a:ln/>
        </p:spPr>
        <p:txBody>
          <a:bodyPr wrap="square" lIns="0" tIns="0" rIns="0" bIns="0" rtlCol="0" anchor="t"/>
          <a:lstStyle/>
          <a:p>
            <a:pPr marL="0" indent="0" algn="l">
              <a:buNone/>
            </a:pPr>
            <a:r>
              <a:rPr lang="en-US" sz="1000" dirty="0">
                <a:solidFill>
                  <a:srgbClr val="E8EDF5"/>
                </a:solidFill>
                <a:latin typeface="Calibri" pitchFamily="34" charset="0"/>
                <a:ea typeface="Calibri" pitchFamily="34" charset="-122"/>
                <a:cs typeface="Calibri" pitchFamily="34" charset="-120"/>
              </a:rPr>
              <a:t>Aplicație Python funcțională care demonstrează interacțiunea completă cu baza de date prin interogări parametrizate sigure.</a:t>
            </a:r>
            <a:endParaRPr lang="en-US" sz="1000" dirty="0"/>
          </a:p>
        </p:txBody>
      </p:sp>
      <p:sp>
        <p:nvSpPr>
          <p:cNvPr id="46" name="Text 44"/>
          <p:cNvSpPr/>
          <p:nvPr/>
        </p:nvSpPr>
        <p:spPr>
          <a:xfrm>
            <a:off x="274320" y="4800600"/>
            <a:ext cx="8595360" cy="342900"/>
          </a:xfrm>
          <a:prstGeom prst="rect">
            <a:avLst/>
          </a:prstGeom>
          <a:noFill/>
          <a:ln/>
        </p:spPr>
        <p:txBody>
          <a:bodyPr wrap="square" lIns="0" tIns="0" rIns="0" bIns="0" rtlCol="0" anchor="ctr"/>
          <a:lstStyle/>
          <a:p>
            <a:pPr marL="0" indent="0">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DB346B-BCE5-D4D9-D537-B4811B8C3AEB}"/>
              </a:ext>
            </a:extLst>
          </p:cNvPr>
          <p:cNvSpPr txBox="1"/>
          <p:nvPr/>
        </p:nvSpPr>
        <p:spPr>
          <a:xfrm>
            <a:off x="1821952" y="1986975"/>
            <a:ext cx="5500095" cy="584775"/>
          </a:xfrm>
          <a:prstGeom prst="rect">
            <a:avLst/>
          </a:prstGeom>
          <a:noFill/>
        </p:spPr>
        <p:txBody>
          <a:bodyPr wrap="none" rtlCol="0">
            <a:spAutoFit/>
          </a:bodyPr>
          <a:lstStyle/>
          <a:p>
            <a:r>
              <a:rPr lang="en-US" sz="3200"/>
              <a:t>V</a:t>
            </a:r>
            <a:r>
              <a:rPr lang="ro-RO" sz="3200"/>
              <a:t>ă mulțumesc pentru atenție! </a:t>
            </a:r>
            <a:r>
              <a:rPr lang="en-US" sz="3200"/>
              <a:t>:)</a:t>
            </a:r>
            <a:endParaRPr lang="ro-RO" sz="3200"/>
          </a:p>
        </p:txBody>
      </p:sp>
    </p:spTree>
    <p:extLst>
      <p:ext uri="{BB962C8B-B14F-4D97-AF65-F5344CB8AC3E}">
        <p14:creationId xmlns:p14="http://schemas.microsoft.com/office/powerpoint/2010/main" val="1813377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1212</TotalTime>
  <Words>2704</Words>
  <Application>Microsoft Office PowerPoint</Application>
  <PresentationFormat>On-screen Show (16:9)</PresentationFormat>
  <Paragraphs>288</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 Bancar Simplificat - Proiect Baze de Date</dc:title>
  <dc:subject>PptxGenJS Presentation</dc:subject>
  <dc:creator>PptxGenJS</dc:creator>
  <cp:lastModifiedBy>Ganea Alex</cp:lastModifiedBy>
  <cp:revision>8</cp:revision>
  <dcterms:created xsi:type="dcterms:W3CDTF">2026-05-19T20:16:26Z</dcterms:created>
  <dcterms:modified xsi:type="dcterms:W3CDTF">2026-05-27T05:04:17Z</dcterms:modified>
</cp:coreProperties>
</file>